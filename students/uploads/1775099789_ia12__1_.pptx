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2.xml" ContentType="application/vnd.openxmlformats-officedocument.presentationml.notesSlide+xml"/>
  <Override PartName="/ppt/slides/slide13.xml" ContentType="application/vnd.openxmlformats-officedocument.presentationml.slide+xml"/>
  <Override PartName="/ppt/notesSlides/notesSlide3.xml" ContentType="application/vnd.openxmlformats-officedocument.presentationml.notes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4.xml" ContentType="application/vnd.openxmlformats-officedocument.presentationml.notes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Slides/notesSlide5.xml" ContentType="application/vnd.openxmlformats-officedocument.presentationml.notes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 id="283" r:id="rId28"/>
    <p:sldId id="284" r:id="rId29"/>
    <p:sldId id="285" r:id="rId30"/>
    <p:sldId id="286" r:id="rId31"/>
    <p:sldId id="287" r:id="rId32"/>
    <p:sldId id="288" r:id="rId33"/>
    <p:sldId id="289" r:id="rId34"/>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032E59"/>
    <a:srgbClr val="0B458F"/>
    <a:srgbClr val="F9C301"/>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987" autoAdjust="0"/>
    <p:restoredTop sz="94660"/>
  </p:normalViewPr>
  <p:slideViewPr>
    <p:cSldViewPr snapToGrid="0">
      <p:cViewPr varScale="1">
        <p:scale>
          <a:sx n="78" d="100"/>
          <a:sy n="78" d="100"/>
        </p:scale>
        <p:origin x="758" y="58"/>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tableStyles" Target="tableStyles.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99" name=""/>
        <p:cNvGrpSpPr/>
        <p:nvPr/>
      </p:nvGrpSpPr>
      <p:grpSpPr>
        <a:xfrm>
          <a:off x="0" y="0"/>
          <a:ext cx="0" cy="0"/>
          <a:chOff x="0" y="0"/>
          <a:chExt cx="0" cy="0"/>
        </a:xfrm>
      </p:grpSpPr>
      <p:sp>
        <p:nvSpPr>
          <p:cNvPr id="1048709"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710"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3EFD42F7-718C-4B98-AAEC-167E6DDD60A7}" type="datetimeFigureOut">
              <a:rPr lang="en-US" smtClean="0"/>
            </a:fld>
            <a:endParaRPr lang="en-US"/>
          </a:p>
        </p:txBody>
      </p:sp>
      <p:sp>
        <p:nvSpPr>
          <p:cNvPr id="1048711"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712"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713"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714"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21B2AA4F-B828-4D7C-AFD3-893933DAFCB4}" type="slidenum">
              <a:rPr lang="en-US" smtClean="0"/>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p:grpSpPr>
      <p:sp>
        <p:nvSpPr>
          <p:cNvPr id="1048611" name="Slide Image Placeholder 1"/>
          <p:cNvSpPr>
            <a:spLocks noGrp="1"/>
          </p:cNvSpPr>
          <p:nvPr>
            <p:ph type="sldImg" idx="2"/>
          </p:nvPr>
        </p:nvSpPr>
        <p:spPr/>
      </p:sp>
      <p:sp>
        <p:nvSpPr>
          <p:cNvPr id="1048612"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53" name=""/>
        <p:cNvGrpSpPr/>
        <p:nvPr/>
      </p:nvGrpSpPr>
      <p:grpSpPr>
        <a:xfrm/>
      </p:grpSpPr>
      <p:sp>
        <p:nvSpPr>
          <p:cNvPr id="1048594" name="Slide Image Placeholder 1"/>
          <p:cNvSpPr>
            <a:spLocks noGrp="1"/>
          </p:cNvSpPr>
          <p:nvPr>
            <p:ph type="sldImg" idx="2"/>
          </p:nvPr>
        </p:nvSpPr>
        <p:spPr/>
      </p:sp>
      <p:sp>
        <p:nvSpPr>
          <p:cNvPr id="1048595"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39" name=""/>
        <p:cNvGrpSpPr/>
        <p:nvPr/>
      </p:nvGrpSpPr>
      <p:grpSpPr>
        <a:xfrm/>
      </p:grpSpPr>
      <p:sp>
        <p:nvSpPr>
          <p:cNvPr id="1048588" name="Slide Image Placeholder 1"/>
          <p:cNvSpPr>
            <a:spLocks noGrp="1"/>
          </p:cNvSpPr>
          <p:nvPr>
            <p:ph type="sldImg" idx="2"/>
          </p:nvPr>
        </p:nvSpPr>
        <p:spPr/>
      </p:sp>
      <p:sp>
        <p:nvSpPr>
          <p:cNvPr id="1048589"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74" name=""/>
        <p:cNvGrpSpPr/>
        <p:nvPr/>
      </p:nvGrpSpPr>
      <p:grpSpPr>
        <a:xfrm/>
      </p:grpSpPr>
      <p:sp>
        <p:nvSpPr>
          <p:cNvPr id="1048633" name="Slide Image Placeholder 1"/>
          <p:cNvSpPr>
            <a:spLocks noGrp="1"/>
          </p:cNvSpPr>
          <p:nvPr>
            <p:ph type="sldImg" idx="2"/>
          </p:nvPr>
        </p:nvSpPr>
        <p:spPr/>
      </p:sp>
      <p:sp>
        <p:nvSpPr>
          <p:cNvPr id="1048634"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p:grpSpPr>
      <p:sp>
        <p:nvSpPr>
          <p:cNvPr id="1048652" name="Slide Image Placeholder 1"/>
          <p:cNvSpPr>
            <a:spLocks noGrp="1"/>
          </p:cNvSpPr>
          <p:nvPr>
            <p:ph type="sldImg" idx="2"/>
          </p:nvPr>
        </p:nvSpPr>
        <p:spPr/>
      </p:sp>
      <p:sp>
        <p:nvSpPr>
          <p:cNvPr id="104865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58" name=""/>
        <p:cNvGrpSpPr/>
        <p:nvPr/>
      </p:nvGrpSpPr>
      <p:grpSpPr>
        <a:xfrm>
          <a:off x="0" y="0"/>
          <a:ext cx="0" cy="0"/>
          <a:chOff x="0" y="0"/>
          <a:chExt cx="0" cy="0"/>
        </a:xfrm>
      </p:grpSpPr>
      <p:sp>
        <p:nvSpPr>
          <p:cNvPr id="1048604"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1048605"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lang="en-US"/>
          </a:p>
        </p:txBody>
      </p:sp>
      <p:sp>
        <p:nvSpPr>
          <p:cNvPr id="1048606" name="Date Placeholder 3"/>
          <p:cNvSpPr>
            <a:spLocks noGrp="1"/>
          </p:cNvSpPr>
          <p:nvPr>
            <p:ph type="dt" sz="half" idx="10"/>
          </p:nvPr>
        </p:nvSpPr>
        <p:spPr/>
        <p:txBody>
          <a:bodyPr/>
          <a:p>
            <a:fld id="{27CC61B2-1873-4A3F-8BCC-4A40E30C166F}" type="datetimeFigureOut">
              <a:rPr lang="en-US" smtClean="0"/>
            </a:fld>
            <a:endParaRPr lang="en-US"/>
          </a:p>
        </p:txBody>
      </p:sp>
      <p:sp>
        <p:nvSpPr>
          <p:cNvPr id="1048607" name="Footer Placeholder 4"/>
          <p:cNvSpPr>
            <a:spLocks noGrp="1"/>
          </p:cNvSpPr>
          <p:nvPr>
            <p:ph type="ftr" sz="quarter" idx="11"/>
          </p:nvPr>
        </p:nvSpPr>
        <p:spPr/>
        <p:txBody>
          <a:bodyPr/>
          <a:p>
            <a:endParaRPr lang="en-US"/>
          </a:p>
        </p:txBody>
      </p:sp>
      <p:sp>
        <p:nvSpPr>
          <p:cNvPr id="1048608" name="Slide Number Placeholder 5"/>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6" name=""/>
        <p:cNvGrpSpPr/>
        <p:nvPr/>
      </p:nvGrpSpPr>
      <p:grpSpPr>
        <a:xfrm>
          <a:off x="0" y="0"/>
          <a:ext cx="0" cy="0"/>
          <a:chOff x="0" y="0"/>
          <a:chExt cx="0" cy="0"/>
        </a:xfrm>
      </p:grpSpPr>
      <p:sp>
        <p:nvSpPr>
          <p:cNvPr id="1048581" name="Title 1"/>
          <p:cNvSpPr>
            <a:spLocks noGrp="1"/>
          </p:cNvSpPr>
          <p:nvPr>
            <p:ph type="title"/>
          </p:nvPr>
        </p:nvSpPr>
        <p:spPr/>
        <p:txBody>
          <a:bodyPr/>
          <a:p>
            <a:r>
              <a:rPr lang="en-US"/>
              <a:t>Click to edit Master title style</a:t>
            </a:r>
            <a:endParaRPr lang="en-US"/>
          </a:p>
        </p:txBody>
      </p:sp>
      <p:sp>
        <p:nvSpPr>
          <p:cNvPr id="1048582" name="Content Placeholder 2"/>
          <p:cNvSpPr>
            <a:spLocks noGrp="1"/>
          </p:cNvSpPr>
          <p:nvPr>
            <p:ph idx="1"/>
          </p:nvPr>
        </p:nvSpPr>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583" name="Date Placeholder 3"/>
          <p:cNvSpPr>
            <a:spLocks noGrp="1"/>
          </p:cNvSpPr>
          <p:nvPr>
            <p:ph type="dt" sz="half" idx="10"/>
          </p:nvPr>
        </p:nvSpPr>
        <p:spPr/>
        <p:txBody>
          <a:bodyPr/>
          <a:p>
            <a:fld id="{27CC61B2-1873-4A3F-8BCC-4A40E30C166F}" type="datetimeFigureOut">
              <a:rPr lang="en-US" smtClean="0"/>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89" name=""/>
        <p:cNvGrpSpPr/>
        <p:nvPr/>
      </p:nvGrpSpPr>
      <p:grpSpPr>
        <a:xfrm>
          <a:off x="0" y="0"/>
          <a:ext cx="0" cy="0"/>
          <a:chOff x="0" y="0"/>
          <a:chExt cx="0" cy="0"/>
        </a:xfrm>
      </p:grpSpPr>
      <p:sp>
        <p:nvSpPr>
          <p:cNvPr id="1048660"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1048661"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endParaRPr lang="en-US"/>
          </a:p>
        </p:txBody>
      </p:sp>
      <p:sp>
        <p:nvSpPr>
          <p:cNvPr id="1048662" name="Date Placeholder 3"/>
          <p:cNvSpPr>
            <a:spLocks noGrp="1"/>
          </p:cNvSpPr>
          <p:nvPr>
            <p:ph type="dt" sz="half" idx="10"/>
          </p:nvPr>
        </p:nvSpPr>
        <p:spPr/>
        <p:txBody>
          <a:bodyPr/>
          <a:p>
            <a:fld id="{27CC61B2-1873-4A3F-8BCC-4A40E30C166F}" type="datetimeFigureOut">
              <a:rPr lang="en-US" smtClean="0"/>
            </a:fld>
            <a:endParaRPr lang="en-US"/>
          </a:p>
        </p:txBody>
      </p:sp>
      <p:sp>
        <p:nvSpPr>
          <p:cNvPr id="1048663" name="Footer Placeholder 4"/>
          <p:cNvSpPr>
            <a:spLocks noGrp="1"/>
          </p:cNvSpPr>
          <p:nvPr>
            <p:ph type="ftr" sz="quarter" idx="11"/>
          </p:nvPr>
        </p:nvSpPr>
        <p:spPr/>
        <p:txBody>
          <a:bodyPr/>
          <a:p>
            <a:endParaRPr lang="en-US"/>
          </a:p>
        </p:txBody>
      </p:sp>
      <p:sp>
        <p:nvSpPr>
          <p:cNvPr id="1048664" name="Slide Number Placeholder 5"/>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95" name=""/>
        <p:cNvGrpSpPr/>
        <p:nvPr/>
      </p:nvGrpSpPr>
      <p:grpSpPr>
        <a:xfrm>
          <a:off x="0" y="0"/>
          <a:ext cx="0" cy="0"/>
          <a:chOff x="0" y="0"/>
          <a:chExt cx="0" cy="0"/>
        </a:xfrm>
      </p:grpSpPr>
      <p:sp>
        <p:nvSpPr>
          <p:cNvPr id="1048686" name="Title 1"/>
          <p:cNvSpPr>
            <a:spLocks noGrp="1"/>
          </p:cNvSpPr>
          <p:nvPr>
            <p:ph type="title"/>
          </p:nvPr>
        </p:nvSpPr>
        <p:spPr/>
        <p:txBody>
          <a:bodyPr/>
          <a:p>
            <a:r>
              <a:rPr lang="en-US"/>
              <a:t>Click to edit Master title style</a:t>
            </a:r>
            <a:endParaRPr lang="en-US"/>
          </a:p>
        </p:txBody>
      </p:sp>
      <p:sp>
        <p:nvSpPr>
          <p:cNvPr id="1048687" name="Content Placeholder 2"/>
          <p:cNvSpPr>
            <a:spLocks noGrp="1"/>
          </p:cNvSpPr>
          <p:nvPr>
            <p:ph sz="half" idx="1"/>
          </p:nvPr>
        </p:nvSpPr>
        <p:spPr>
          <a:xfrm>
            <a:off x="838200" y="1825625"/>
            <a:ext cx="5181600" cy="4351338"/>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88" name="Content Placeholder 3"/>
          <p:cNvSpPr>
            <a:spLocks noGrp="1"/>
          </p:cNvSpPr>
          <p:nvPr>
            <p:ph sz="half" idx="2"/>
          </p:nvPr>
        </p:nvSpPr>
        <p:spPr>
          <a:xfrm>
            <a:off x="6172200" y="1825625"/>
            <a:ext cx="5181600" cy="4351338"/>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89" name="Date Placeholder 4"/>
          <p:cNvSpPr>
            <a:spLocks noGrp="1"/>
          </p:cNvSpPr>
          <p:nvPr>
            <p:ph type="dt" sz="half" idx="10"/>
          </p:nvPr>
        </p:nvSpPr>
        <p:spPr/>
        <p:txBody>
          <a:bodyPr/>
          <a:p>
            <a:fld id="{27CC61B2-1873-4A3F-8BCC-4A40E30C166F}" type="datetimeFigureOut">
              <a:rPr lang="en-US" smtClean="0"/>
            </a:fld>
            <a:endParaRPr lang="en-US"/>
          </a:p>
        </p:txBody>
      </p:sp>
      <p:sp>
        <p:nvSpPr>
          <p:cNvPr id="1048690" name="Footer Placeholder 5"/>
          <p:cNvSpPr>
            <a:spLocks noGrp="1"/>
          </p:cNvSpPr>
          <p:nvPr>
            <p:ph type="ftr" sz="quarter" idx="11"/>
          </p:nvPr>
        </p:nvSpPr>
        <p:spPr/>
        <p:txBody>
          <a:bodyPr/>
          <a:p>
            <a:endParaRPr lang="en-US"/>
          </a:p>
        </p:txBody>
      </p:sp>
      <p:sp>
        <p:nvSpPr>
          <p:cNvPr id="1048691" name="Slide Number Placeholder 6"/>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96" name=""/>
        <p:cNvGrpSpPr/>
        <p:nvPr/>
      </p:nvGrpSpPr>
      <p:grpSpPr>
        <a:xfrm>
          <a:off x="0" y="0"/>
          <a:ext cx="0" cy="0"/>
          <a:chOff x="0" y="0"/>
          <a:chExt cx="0" cy="0"/>
        </a:xfrm>
      </p:grpSpPr>
      <p:sp>
        <p:nvSpPr>
          <p:cNvPr id="1048692" name="Title 1"/>
          <p:cNvSpPr>
            <a:spLocks noGrp="1"/>
          </p:cNvSpPr>
          <p:nvPr>
            <p:ph type="title"/>
          </p:nvPr>
        </p:nvSpPr>
        <p:spPr>
          <a:xfrm>
            <a:off x="839788" y="365125"/>
            <a:ext cx="10515600" cy="1325563"/>
          </a:xfrm>
        </p:spPr>
        <p:txBody>
          <a:bodyPr/>
          <a:p>
            <a:r>
              <a:rPr lang="en-US"/>
              <a:t>Click to edit Master title style</a:t>
            </a:r>
            <a:endParaRPr lang="en-US"/>
          </a:p>
        </p:txBody>
      </p:sp>
      <p:sp>
        <p:nvSpPr>
          <p:cNvPr id="1048693"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endParaRPr lang="en-US"/>
          </a:p>
        </p:txBody>
      </p:sp>
      <p:sp>
        <p:nvSpPr>
          <p:cNvPr id="1048694" name="Content Placeholder 3"/>
          <p:cNvSpPr>
            <a:spLocks noGrp="1"/>
          </p:cNvSpPr>
          <p:nvPr>
            <p:ph sz="half" idx="2"/>
          </p:nvPr>
        </p:nvSpPr>
        <p:spPr>
          <a:xfrm>
            <a:off x="839788" y="2505075"/>
            <a:ext cx="5157787" cy="3684588"/>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95"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endParaRPr lang="en-US"/>
          </a:p>
        </p:txBody>
      </p:sp>
      <p:sp>
        <p:nvSpPr>
          <p:cNvPr id="1048696" name="Content Placeholder 5"/>
          <p:cNvSpPr>
            <a:spLocks noGrp="1"/>
          </p:cNvSpPr>
          <p:nvPr>
            <p:ph sz="quarter" idx="4"/>
          </p:nvPr>
        </p:nvSpPr>
        <p:spPr>
          <a:xfrm>
            <a:off x="6172200" y="2505075"/>
            <a:ext cx="5183188" cy="3684588"/>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97" name="Date Placeholder 6"/>
          <p:cNvSpPr>
            <a:spLocks noGrp="1"/>
          </p:cNvSpPr>
          <p:nvPr>
            <p:ph type="dt" sz="half" idx="10"/>
          </p:nvPr>
        </p:nvSpPr>
        <p:spPr/>
        <p:txBody>
          <a:bodyPr/>
          <a:p>
            <a:fld id="{27CC61B2-1873-4A3F-8BCC-4A40E30C166F}" type="datetimeFigureOut">
              <a:rPr lang="en-US" smtClean="0"/>
            </a:fld>
            <a:endParaRPr lang="en-US"/>
          </a:p>
        </p:txBody>
      </p:sp>
      <p:sp>
        <p:nvSpPr>
          <p:cNvPr id="1048698" name="Footer Placeholder 7"/>
          <p:cNvSpPr>
            <a:spLocks noGrp="1"/>
          </p:cNvSpPr>
          <p:nvPr>
            <p:ph type="ftr" sz="quarter" idx="11"/>
          </p:nvPr>
        </p:nvSpPr>
        <p:spPr/>
        <p:txBody>
          <a:bodyPr/>
          <a:p>
            <a:endParaRPr lang="en-US"/>
          </a:p>
        </p:txBody>
      </p:sp>
      <p:sp>
        <p:nvSpPr>
          <p:cNvPr id="1048699" name="Slide Number Placeholder 8"/>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91" name=""/>
        <p:cNvGrpSpPr/>
        <p:nvPr/>
      </p:nvGrpSpPr>
      <p:grpSpPr>
        <a:xfrm>
          <a:off x="0" y="0"/>
          <a:ext cx="0" cy="0"/>
          <a:chOff x="0" y="0"/>
          <a:chExt cx="0" cy="0"/>
        </a:xfrm>
      </p:grpSpPr>
      <p:sp>
        <p:nvSpPr>
          <p:cNvPr id="1048666" name="Title 1"/>
          <p:cNvSpPr>
            <a:spLocks noGrp="1"/>
          </p:cNvSpPr>
          <p:nvPr>
            <p:ph type="title"/>
          </p:nvPr>
        </p:nvSpPr>
        <p:spPr/>
        <p:txBody>
          <a:bodyPr/>
          <a:p>
            <a:r>
              <a:rPr lang="en-US"/>
              <a:t>Click to edit Master title style</a:t>
            </a:r>
            <a:endParaRPr lang="en-US"/>
          </a:p>
        </p:txBody>
      </p:sp>
      <p:sp>
        <p:nvSpPr>
          <p:cNvPr id="1048667" name="Date Placeholder 2"/>
          <p:cNvSpPr>
            <a:spLocks noGrp="1"/>
          </p:cNvSpPr>
          <p:nvPr>
            <p:ph type="dt" sz="half" idx="10"/>
          </p:nvPr>
        </p:nvSpPr>
        <p:spPr/>
        <p:txBody>
          <a:bodyPr/>
          <a:p>
            <a:fld id="{27CC61B2-1873-4A3F-8BCC-4A40E30C166F}" type="datetimeFigureOut">
              <a:rPr lang="en-US" smtClean="0"/>
            </a:fld>
            <a:endParaRPr lang="en-US"/>
          </a:p>
        </p:txBody>
      </p:sp>
      <p:sp>
        <p:nvSpPr>
          <p:cNvPr id="1048668" name="Footer Placeholder 3"/>
          <p:cNvSpPr>
            <a:spLocks noGrp="1"/>
          </p:cNvSpPr>
          <p:nvPr>
            <p:ph type="ftr" sz="quarter" idx="11"/>
          </p:nvPr>
        </p:nvSpPr>
        <p:spPr/>
        <p:txBody>
          <a:bodyPr/>
          <a:p>
            <a:endParaRPr lang="en-US"/>
          </a:p>
        </p:txBody>
      </p:sp>
      <p:sp>
        <p:nvSpPr>
          <p:cNvPr id="1048669" name="Slide Number Placeholder 4"/>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97" name=""/>
        <p:cNvGrpSpPr/>
        <p:nvPr/>
      </p:nvGrpSpPr>
      <p:grpSpPr>
        <a:xfrm>
          <a:off x="0" y="0"/>
          <a:ext cx="0" cy="0"/>
          <a:chOff x="0" y="0"/>
          <a:chExt cx="0" cy="0"/>
        </a:xfrm>
      </p:grpSpPr>
      <p:sp>
        <p:nvSpPr>
          <p:cNvPr id="1048700" name="Date Placeholder 1"/>
          <p:cNvSpPr>
            <a:spLocks noGrp="1"/>
          </p:cNvSpPr>
          <p:nvPr>
            <p:ph type="dt" sz="half" idx="10"/>
          </p:nvPr>
        </p:nvSpPr>
        <p:spPr/>
        <p:txBody>
          <a:bodyPr/>
          <a:p>
            <a:fld id="{27CC61B2-1873-4A3F-8BCC-4A40E30C166F}" type="datetimeFigureOut">
              <a:rPr lang="en-US" smtClean="0"/>
            </a:fld>
            <a:endParaRPr lang="en-US"/>
          </a:p>
        </p:txBody>
      </p:sp>
      <p:sp>
        <p:nvSpPr>
          <p:cNvPr id="1048701" name="Footer Placeholder 2"/>
          <p:cNvSpPr>
            <a:spLocks noGrp="1"/>
          </p:cNvSpPr>
          <p:nvPr>
            <p:ph type="ftr" sz="quarter" idx="11"/>
          </p:nvPr>
        </p:nvSpPr>
        <p:spPr/>
        <p:txBody>
          <a:bodyPr/>
          <a:p>
            <a:endParaRPr lang="en-US"/>
          </a:p>
        </p:txBody>
      </p:sp>
      <p:sp>
        <p:nvSpPr>
          <p:cNvPr id="1048702" name="Slide Number Placeholder 3"/>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98" name=""/>
        <p:cNvGrpSpPr/>
        <p:nvPr/>
      </p:nvGrpSpPr>
      <p:grpSpPr>
        <a:xfrm>
          <a:off x="0" y="0"/>
          <a:ext cx="0" cy="0"/>
          <a:chOff x="0" y="0"/>
          <a:chExt cx="0" cy="0"/>
        </a:xfrm>
      </p:grpSpPr>
      <p:sp>
        <p:nvSpPr>
          <p:cNvPr id="104870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1048704"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05"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endParaRPr lang="en-US"/>
          </a:p>
        </p:txBody>
      </p:sp>
      <p:sp>
        <p:nvSpPr>
          <p:cNvPr id="1048706" name="Date Placeholder 4"/>
          <p:cNvSpPr>
            <a:spLocks noGrp="1"/>
          </p:cNvSpPr>
          <p:nvPr>
            <p:ph type="dt" sz="half" idx="10"/>
          </p:nvPr>
        </p:nvSpPr>
        <p:spPr/>
        <p:txBody>
          <a:bodyPr/>
          <a:p>
            <a:fld id="{27CC61B2-1873-4A3F-8BCC-4A40E30C166F}" type="datetimeFigureOut">
              <a:rPr lang="en-US" smtClean="0"/>
            </a:fld>
            <a:endParaRPr lang="en-US"/>
          </a:p>
        </p:txBody>
      </p:sp>
      <p:sp>
        <p:nvSpPr>
          <p:cNvPr id="1048707" name="Footer Placeholder 5"/>
          <p:cNvSpPr>
            <a:spLocks noGrp="1"/>
          </p:cNvSpPr>
          <p:nvPr>
            <p:ph type="ftr" sz="quarter" idx="11"/>
          </p:nvPr>
        </p:nvSpPr>
        <p:spPr/>
        <p:txBody>
          <a:bodyPr/>
          <a:p>
            <a:endParaRPr lang="en-US"/>
          </a:p>
        </p:txBody>
      </p:sp>
      <p:sp>
        <p:nvSpPr>
          <p:cNvPr id="1048708" name="Slide Number Placeholder 6"/>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93" name=""/>
        <p:cNvGrpSpPr/>
        <p:nvPr/>
      </p:nvGrpSpPr>
      <p:grpSpPr>
        <a:xfrm>
          <a:off x="0" y="0"/>
          <a:ext cx="0" cy="0"/>
          <a:chOff x="0" y="0"/>
          <a:chExt cx="0" cy="0"/>
        </a:xfrm>
      </p:grpSpPr>
      <p:sp>
        <p:nvSpPr>
          <p:cNvPr id="1048675"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1048676"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77"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endParaRPr lang="en-US"/>
          </a:p>
        </p:txBody>
      </p:sp>
      <p:sp>
        <p:nvSpPr>
          <p:cNvPr id="1048678" name="Date Placeholder 4"/>
          <p:cNvSpPr>
            <a:spLocks noGrp="1"/>
          </p:cNvSpPr>
          <p:nvPr>
            <p:ph type="dt" sz="half" idx="10"/>
          </p:nvPr>
        </p:nvSpPr>
        <p:spPr/>
        <p:txBody>
          <a:bodyPr/>
          <a:p>
            <a:fld id="{27CC61B2-1873-4A3F-8BCC-4A40E30C166F}" type="datetimeFigureOut">
              <a:rPr lang="en-US" smtClean="0"/>
            </a:fld>
            <a:endParaRPr lang="en-US"/>
          </a:p>
        </p:txBody>
      </p:sp>
      <p:sp>
        <p:nvSpPr>
          <p:cNvPr id="1048679" name="Footer Placeholder 5"/>
          <p:cNvSpPr>
            <a:spLocks noGrp="1"/>
          </p:cNvSpPr>
          <p:nvPr>
            <p:ph type="ftr" sz="quarter" idx="11"/>
          </p:nvPr>
        </p:nvSpPr>
        <p:spPr/>
        <p:txBody>
          <a:bodyPr/>
          <a:p>
            <a:endParaRPr lang="en-US"/>
          </a:p>
        </p:txBody>
      </p:sp>
      <p:sp>
        <p:nvSpPr>
          <p:cNvPr id="1048680" name="Slide Number Placeholder 6"/>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94" name=""/>
        <p:cNvGrpSpPr/>
        <p:nvPr/>
      </p:nvGrpSpPr>
      <p:grpSpPr>
        <a:xfrm>
          <a:off x="0" y="0"/>
          <a:ext cx="0" cy="0"/>
          <a:chOff x="0" y="0"/>
          <a:chExt cx="0" cy="0"/>
        </a:xfrm>
      </p:grpSpPr>
      <p:sp>
        <p:nvSpPr>
          <p:cNvPr id="1048681" name="Title 1"/>
          <p:cNvSpPr>
            <a:spLocks noGrp="1"/>
          </p:cNvSpPr>
          <p:nvPr>
            <p:ph type="title"/>
          </p:nvPr>
        </p:nvSpPr>
        <p:spPr/>
        <p:txBody>
          <a:bodyPr/>
          <a:p>
            <a:r>
              <a:rPr lang="en-US"/>
              <a:t>Click to edit Master title style</a:t>
            </a:r>
            <a:endParaRPr lang="en-US"/>
          </a:p>
        </p:txBody>
      </p:sp>
      <p:sp>
        <p:nvSpPr>
          <p:cNvPr id="1048682" name="Vertical Text Placeholder 2"/>
          <p:cNvSpPr>
            <a:spLocks noGrp="1"/>
          </p:cNvSpPr>
          <p:nvPr>
            <p:ph type="body" orient="vert" idx="1"/>
          </p:nvPr>
        </p:nvSpPr>
        <p:spPr/>
        <p:txBody>
          <a:bodyPr vert="eaVert"/>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83" name="Date Placeholder 3"/>
          <p:cNvSpPr>
            <a:spLocks noGrp="1"/>
          </p:cNvSpPr>
          <p:nvPr>
            <p:ph type="dt" sz="half" idx="10"/>
          </p:nvPr>
        </p:nvSpPr>
        <p:spPr/>
        <p:txBody>
          <a:bodyPr/>
          <a:p>
            <a:fld id="{27CC61B2-1873-4A3F-8BCC-4A40E30C166F}" type="datetimeFigureOut">
              <a:rPr lang="en-US" smtClean="0"/>
            </a:fld>
            <a:endParaRPr lang="en-US"/>
          </a:p>
        </p:txBody>
      </p:sp>
      <p:sp>
        <p:nvSpPr>
          <p:cNvPr id="1048684" name="Footer Placeholder 4"/>
          <p:cNvSpPr>
            <a:spLocks noGrp="1"/>
          </p:cNvSpPr>
          <p:nvPr>
            <p:ph type="ftr" sz="quarter" idx="11"/>
          </p:nvPr>
        </p:nvSpPr>
        <p:spPr/>
        <p:txBody>
          <a:bodyPr/>
          <a:p>
            <a:endParaRPr lang="en-US"/>
          </a:p>
        </p:txBody>
      </p:sp>
      <p:sp>
        <p:nvSpPr>
          <p:cNvPr id="1048685" name="Slide Number Placeholder 5"/>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92" name=""/>
        <p:cNvGrpSpPr/>
        <p:nvPr/>
      </p:nvGrpSpPr>
      <p:grpSpPr>
        <a:xfrm>
          <a:off x="0" y="0"/>
          <a:ext cx="0" cy="0"/>
          <a:chOff x="0" y="0"/>
          <a:chExt cx="0" cy="0"/>
        </a:xfrm>
      </p:grpSpPr>
      <p:sp>
        <p:nvSpPr>
          <p:cNvPr id="1048670" name="Vertical Title 1"/>
          <p:cNvSpPr>
            <a:spLocks noGrp="1"/>
          </p:cNvSpPr>
          <p:nvPr>
            <p:ph type="title" orient="vert"/>
          </p:nvPr>
        </p:nvSpPr>
        <p:spPr>
          <a:xfrm>
            <a:off x="8724900" y="365125"/>
            <a:ext cx="2628900" cy="5811838"/>
          </a:xfrm>
        </p:spPr>
        <p:txBody>
          <a:bodyPr vert="eaVert"/>
          <a:p>
            <a:r>
              <a:rPr lang="en-US"/>
              <a:t>Click to edit Master title style</a:t>
            </a:r>
            <a:endParaRPr lang="en-US"/>
          </a:p>
        </p:txBody>
      </p:sp>
      <p:sp>
        <p:nvSpPr>
          <p:cNvPr id="1048671"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72" name="Date Placeholder 3"/>
          <p:cNvSpPr>
            <a:spLocks noGrp="1"/>
          </p:cNvSpPr>
          <p:nvPr>
            <p:ph type="dt" sz="half" idx="10"/>
          </p:nvPr>
        </p:nvSpPr>
        <p:spPr/>
        <p:txBody>
          <a:bodyPr/>
          <a:p>
            <a:fld id="{27CC61B2-1873-4A3F-8BCC-4A40E30C166F}" type="datetimeFigureOut">
              <a:rPr lang="en-US" smtClean="0"/>
            </a:fld>
            <a:endParaRPr lang="en-US"/>
          </a:p>
        </p:txBody>
      </p:sp>
      <p:sp>
        <p:nvSpPr>
          <p:cNvPr id="1048673" name="Footer Placeholder 4"/>
          <p:cNvSpPr>
            <a:spLocks noGrp="1"/>
          </p:cNvSpPr>
          <p:nvPr>
            <p:ph type="ftr" sz="quarter" idx="11"/>
          </p:nvPr>
        </p:nvSpPr>
        <p:spPr/>
        <p:txBody>
          <a:bodyPr/>
          <a:p>
            <a:endParaRPr lang="en-US"/>
          </a:p>
        </p:txBody>
      </p:sp>
      <p:sp>
        <p:nvSpPr>
          <p:cNvPr id="1048674" name="Slide Number Placeholder 5"/>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24"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endParaRPr lang="en-US"/>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27CC61B2-1873-4A3F-8BCC-4A40E30C166F}" type="datetimeFigureOut">
              <a:rPr lang="en-US" smtClean="0"/>
            </a:fld>
            <a:endParaRPr lang="en-US"/>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8C53BE78-AA4D-4D25-AFC6-C0B5825117E4}" type="slidenum">
              <a:rPr lang="en-US" smtClean="0"/>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jpeg"/><Relationship Id="rId3"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7.png"/><Relationship Id="rId3"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8.png"/><Relationship Id="rId3"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59" name=""/>
        <p:cNvGrpSpPr/>
        <p:nvPr/>
      </p:nvGrpSpPr>
      <p:grpSpPr>
        <a:xfrm>
          <a:off x="0" y="0"/>
          <a:ext cx="0" cy="0"/>
          <a:chOff x="0" y="0"/>
          <a:chExt cx="0" cy="0"/>
        </a:xfrm>
      </p:grpSpPr>
      <p:pic>
        <p:nvPicPr>
          <p:cNvPr id="2097152" name="Picture 3"/>
          <p:cNvPicPr>
            <a:picLocks noChangeAspect="1"/>
          </p:cNvPicPr>
          <p:nvPr/>
        </p:nvPicPr>
        <p:blipFill>
          <a:blip xmlns:r="http://schemas.openxmlformats.org/officeDocument/2006/relationships" r:embed="rId2"/>
          <a:stretch>
            <a:fillRect/>
          </a:stretch>
        </p:blipFill>
        <p:spPr>
          <a:xfrm>
            <a:off x="372165" y="333644"/>
            <a:ext cx="1404527" cy="1371600"/>
          </a:xfrm>
          <a:prstGeom prst="rect"/>
        </p:spPr>
      </p:pic>
      <p:sp>
        <p:nvSpPr>
          <p:cNvPr id="1048609" name="Title 1"/>
          <p:cNvSpPr>
            <a:spLocks noGrp="1"/>
          </p:cNvSpPr>
          <p:nvPr>
            <p:ph type="ctrTitle"/>
          </p:nvPr>
        </p:nvSpPr>
        <p:spPr>
          <a:xfrm>
            <a:off x="518080" y="2061658"/>
            <a:ext cx="7157043" cy="1250468"/>
          </a:xfrm>
        </p:spPr>
        <p:txBody>
          <a:bodyPr>
            <a:normAutofit fontScale="97750"/>
          </a:bodyPr>
          <a:p>
            <a:pPr algn="l"/>
            <a:r>
              <a:rPr b="1" dirty="0" sz="4445" lang="en-US">
                <a:solidFill>
                  <a:srgbClr val="032E59"/>
                </a:solidFill>
              </a:rPr>
              <a:t>Title Prosposal Presentation </a:t>
            </a:r>
            <a:endParaRPr b="1" dirty="0" sz="4445" lang="en-US">
              <a:solidFill>
                <a:srgbClr val="032E59"/>
              </a:solidFill>
            </a:endParaRPr>
          </a:p>
        </p:txBody>
      </p:sp>
      <p:sp>
        <p:nvSpPr>
          <p:cNvPr id="1048610" name="Title 1"/>
          <p:cNvSpPr txBox="1"/>
          <p:nvPr/>
        </p:nvSpPr>
        <p:spPr>
          <a:xfrm>
            <a:off x="633919" y="3545875"/>
            <a:ext cx="7041204" cy="1325563"/>
          </a:xfrm>
          <a:prstGeom prst="rect"/>
        </p:spPr>
        <p:txBody>
          <a:bodyPr anchor="b" bIns="45720" lIns="91440" rIns="91440" rtlCol="0" tIns="45720" vert="horz">
            <a:normAutofit/>
          </a:bodyPr>
          <a:lstStyle>
            <a:lvl1pPr algn="ctr" defTabSz="914400" eaLnBrk="1" hangingPunct="1" latinLnBrk="0" rtl="0">
              <a:lnSpc>
                <a:spcPct val="90000"/>
              </a:lnSpc>
              <a:spcBef>
                <a:spcPct val="0"/>
              </a:spcBef>
              <a:buNone/>
              <a:defRPr sz="6000" kern="1200">
                <a:solidFill>
                  <a:schemeClr val="tx1"/>
                </a:solidFill>
                <a:latin typeface="+mj-lt"/>
                <a:ea typeface="+mj-ea"/>
                <a:cs typeface="+mj-cs"/>
              </a:defRPr>
            </a:lvl1pPr>
          </a:lstStyle>
          <a:p>
            <a:pPr algn="l"/>
            <a:r>
              <a:rPr b="1" dirty="0" sz="3600" lang="en-US">
                <a:solidFill>
                  <a:srgbClr val="032E59"/>
                </a:solidFill>
              </a:rPr>
              <a:t>By : Ian Padilla</a:t>
            </a:r>
            <a:endParaRPr b="1" dirty="0" sz="3600" lang="en-US">
              <a:solidFill>
                <a:srgbClr val="032E59"/>
              </a:solidFill>
            </a:endParaRPr>
          </a:p>
        </p:txBody>
      </p:sp>
      <p:pic>
        <p:nvPicPr>
          <p:cNvPr id="2097153" name="Picture 8"/>
          <p:cNvPicPr>
            <a:picLocks noChangeAspect="1"/>
          </p:cNvPicPr>
          <p:nvPr/>
        </p:nvPicPr>
        <p:blipFill>
          <a:blip xmlns:r="http://schemas.openxmlformats.org/officeDocument/2006/relationships" r:embed="rId3"/>
          <a:stretch>
            <a:fillRect/>
          </a:stretch>
        </p:blipFill>
        <p:spPr>
          <a:xfrm>
            <a:off x="1956372" y="272311"/>
            <a:ext cx="1633134" cy="149426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62" name=""/>
        <p:cNvGrpSpPr/>
        <p:nvPr/>
      </p:nvGrpSpPr>
      <p:grpSpPr>
        <a:xfrm>
          <a:off x="0" y="0"/>
          <a:ext cx="0" cy="0"/>
          <a:chOff x="0" y="0"/>
          <a:chExt cx="0" cy="0"/>
        </a:xfrm>
      </p:grpSpPr>
      <p:sp>
        <p:nvSpPr>
          <p:cNvPr id="1048613" name="Rectangle 1"/>
          <p:cNvSpPr/>
          <p:nvPr/>
        </p:nvSpPr>
        <p:spPr>
          <a:xfrm>
            <a:off x="250783" y="273185"/>
            <a:ext cx="2219353" cy="629920"/>
          </a:xfrm>
          <a:prstGeom prst="rect"/>
          <a:solidFill>
            <a:srgbClr val="FFC000"/>
          </a:solidFill>
        </p:spPr>
        <p:txBody>
          <a:bodyPr wrap="square">
            <a:spAutoFit/>
          </a:bodyPr>
          <a:p>
            <a:r>
              <a:rPr altLang="en-PH" dirty="0" sz="3500" lang="en-US" spc="300"/>
              <a:t>Titles:</a:t>
            </a:r>
            <a:endParaRPr altLang="en-PH" dirty="0" sz="3500" lang="en-US" spc="300"/>
          </a:p>
        </p:txBody>
      </p:sp>
      <p:sp>
        <p:nvSpPr>
          <p:cNvPr id="1048614" name="Content Placeholder 2"/>
          <p:cNvSpPr>
            <a:spLocks noGrp="1"/>
          </p:cNvSpPr>
          <p:nvPr>
            <p:ph idx="1"/>
          </p:nvPr>
        </p:nvSpPr>
        <p:spPr>
          <a:xfrm>
            <a:off x="585281" y="1076595"/>
            <a:ext cx="10515600" cy="5071285"/>
          </a:xfrm>
        </p:spPr>
        <p:txBody>
          <a:bodyPr>
            <a:noAutofit/>
          </a:bodyPr>
          <a:p>
            <a:pPr algn="ctr" indent="0" marL="0">
              <a:buNone/>
            </a:pPr>
            <a:r>
              <a:rPr altLang="en-US" dirty="0" sz="4400" lang="en-US">
                <a:solidFill>
                  <a:srgbClr val="032E59"/>
                </a:solidFill>
              </a:rPr>
              <a:t>Inventory System of Purok Narra (SLP) Convenience Store</a:t>
            </a:r>
            <a:endParaRPr altLang="en-US" dirty="0" sz="4400" lang="en-US">
              <a:solidFill>
                <a:srgbClr val="032E59"/>
              </a:solidFill>
            </a:endParaRPr>
          </a:p>
          <a:p>
            <a:pPr algn="ctr" indent="0" marL="0">
              <a:buNone/>
            </a:pPr>
            <a:endParaRPr altLang="en-US" dirty="0" sz="3500" lang="en-US">
              <a:solidFill>
                <a:srgbClr val="032E59"/>
              </a:solidFill>
            </a:endParaRPr>
          </a:p>
          <a:p>
            <a:pPr algn="ctr" indent="0" marL="0">
              <a:buNone/>
            </a:pPr>
            <a:r>
              <a:rPr altLang="en-US" dirty="0" sz="4400" lang="en-US">
                <a:solidFill>
                  <a:srgbClr val="032E59"/>
                </a:solidFill>
              </a:rPr>
              <a:t>OJT Monitoring System</a:t>
            </a:r>
            <a:endParaRPr altLang="en-US" dirty="0" sz="4400" lang="en-US">
              <a:solidFill>
                <a:srgbClr val="032E59"/>
              </a:solidFill>
            </a:endParaRPr>
          </a:p>
          <a:p>
            <a:pPr algn="ctr" indent="0" marL="0">
              <a:buNone/>
            </a:pPr>
            <a:endParaRPr altLang="en-US" dirty="0" sz="3500" lang="en-US">
              <a:solidFill>
                <a:srgbClr val="032E59"/>
              </a:solidFill>
            </a:endParaRPr>
          </a:p>
          <a:p>
            <a:pPr algn="ctr" indent="0" marL="0">
              <a:buNone/>
            </a:pPr>
            <a:r>
              <a:rPr altLang="en-US" dirty="0" sz="4400" lang="en-US">
                <a:solidFill>
                  <a:srgbClr val="032E59"/>
                </a:solidFill>
              </a:rPr>
              <a:t>Online Faculty Consultation System</a:t>
            </a:r>
            <a:endParaRPr altLang="en-US" dirty="0" sz="44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63" name=""/>
        <p:cNvGrpSpPr/>
        <p:nvPr/>
      </p:nvGrpSpPr>
      <p:grpSpPr>
        <a:xfrm>
          <a:off x="0" y="0"/>
          <a:ext cx="0" cy="0"/>
          <a:chOff x="0" y="0"/>
          <a:chExt cx="0" cy="0"/>
        </a:xfrm>
      </p:grpSpPr>
      <p:sp>
        <p:nvSpPr>
          <p:cNvPr id="1048615" name="Rectangle 1"/>
          <p:cNvSpPr/>
          <p:nvPr/>
        </p:nvSpPr>
        <p:spPr>
          <a:xfrm>
            <a:off x="250783" y="273185"/>
            <a:ext cx="2219353" cy="629920"/>
          </a:xfrm>
          <a:prstGeom prst="rect"/>
          <a:solidFill>
            <a:srgbClr val="FFC000"/>
          </a:solidFill>
        </p:spPr>
        <p:txBody>
          <a:bodyPr wrap="square">
            <a:spAutoFit/>
          </a:bodyPr>
          <a:p>
            <a:r>
              <a:rPr altLang="en-PH" dirty="0" sz="3500" lang="en-US" spc="300"/>
              <a:t>Title:1</a:t>
            </a:r>
            <a:endParaRPr altLang="en-PH" dirty="0" sz="3500" lang="en-US" spc="300"/>
          </a:p>
        </p:txBody>
      </p:sp>
      <p:sp>
        <p:nvSpPr>
          <p:cNvPr id="1048616" name="Content Placeholder 2"/>
          <p:cNvSpPr>
            <a:spLocks noGrp="1"/>
          </p:cNvSpPr>
          <p:nvPr>
            <p:ph idx="1"/>
          </p:nvPr>
        </p:nvSpPr>
        <p:spPr>
          <a:xfrm>
            <a:off x="585281" y="1076595"/>
            <a:ext cx="10515600" cy="5071285"/>
          </a:xfrm>
        </p:spPr>
        <p:txBody>
          <a:bodyPr>
            <a:noAutofit/>
          </a:bodyPr>
          <a:p>
            <a:pPr algn="ctr" indent="0" marL="0">
              <a:buNone/>
            </a:pPr>
            <a:endParaRPr altLang="en-US" dirty="0" sz="3500" lang="en-US">
              <a:solidFill>
                <a:srgbClr val="032E59"/>
              </a:solidFill>
            </a:endParaRPr>
          </a:p>
          <a:p>
            <a:pPr algn="ctr" indent="0" marL="0">
              <a:buNone/>
            </a:pPr>
            <a:endParaRPr altLang="en-US" dirty="0" sz="3500" lang="en-US">
              <a:solidFill>
                <a:srgbClr val="032E59"/>
              </a:solidFill>
            </a:endParaRPr>
          </a:p>
          <a:p>
            <a:pPr algn="ctr" indent="0" marL="0">
              <a:buNone/>
            </a:pPr>
            <a:endParaRPr altLang="en-US" dirty="0" sz="3500" lang="en-US">
              <a:solidFill>
                <a:srgbClr val="032E59"/>
              </a:solidFill>
            </a:endParaRPr>
          </a:p>
          <a:p>
            <a:pPr algn="ctr" indent="0" marL="0">
              <a:buNone/>
            </a:pPr>
            <a:r>
              <a:rPr altLang="en-US" b="1" dirty="0" sz="4400" lang="en-US">
                <a:solidFill>
                  <a:srgbClr val="032E59"/>
                </a:solidFill>
              </a:rPr>
              <a:t>Inventory System of Purok Narra (SLP) Convenience Store</a:t>
            </a:r>
            <a:endParaRPr altLang="en-US" b="1" dirty="0" sz="4400" lang="en-US">
              <a:solidFill>
                <a:srgbClr val="032E59"/>
              </a:solidFill>
            </a:endParaRPr>
          </a:p>
          <a:p>
            <a:pPr algn="ctr" indent="0" marL="0">
              <a:buNone/>
            </a:pPr>
            <a:endParaRPr altLang="en-US" dirty="0" sz="3500" lang="en-US">
              <a:solidFill>
                <a:srgbClr val="032E59"/>
              </a:solidFill>
            </a:endParaRPr>
          </a:p>
          <a:p>
            <a:pPr algn="ctr" indent="0" marL="0">
              <a:buNone/>
            </a:pPr>
            <a:endParaRPr altLang="en-US" dirty="0" sz="35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64" name=""/>
        <p:cNvGrpSpPr/>
        <p:nvPr/>
      </p:nvGrpSpPr>
      <p:grpSpPr>
        <a:xfrm>
          <a:off x="0" y="0"/>
          <a:ext cx="0" cy="0"/>
          <a:chOff x="0" y="0"/>
          <a:chExt cx="0" cy="0"/>
        </a:xfrm>
      </p:grpSpPr>
      <p:sp>
        <p:nvSpPr>
          <p:cNvPr id="1048617" name="Rectangle 1"/>
          <p:cNvSpPr/>
          <p:nvPr/>
        </p:nvSpPr>
        <p:spPr>
          <a:xfrm>
            <a:off x="250783" y="273185"/>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Background</a:t>
            </a:r>
            <a:endParaRPr dirty="0" sz="2000" lang="en-PH" spc="300"/>
          </a:p>
        </p:txBody>
      </p:sp>
      <p:sp>
        <p:nvSpPr>
          <p:cNvPr id="1048618" name="Content Placeholder 2"/>
          <p:cNvSpPr>
            <a:spLocks noGrp="1"/>
          </p:cNvSpPr>
          <p:nvPr>
            <p:ph idx="1"/>
          </p:nvPr>
        </p:nvSpPr>
        <p:spPr>
          <a:xfrm>
            <a:off x="585281" y="1076595"/>
            <a:ext cx="10515600" cy="5071285"/>
          </a:xfrm>
        </p:spPr>
        <p:txBody>
          <a:bodyPr>
            <a:noAutofit/>
          </a:bodyPr>
          <a:p>
            <a:pPr indent="0" marL="0">
              <a:buNone/>
            </a:pPr>
            <a:r>
              <a:rPr altLang="en-US" dirty="0" sz="3000" lang="en-US">
                <a:solidFill>
                  <a:srgbClr val="032E59"/>
                </a:solidFill>
              </a:rPr>
              <a:t>Current Situation</a:t>
            </a:r>
            <a:endParaRPr altLang="en-US" dirty="0" sz="3000" lang="en-US">
              <a:solidFill>
                <a:srgbClr val="032E59"/>
              </a:solidFill>
            </a:endParaRPr>
          </a:p>
          <a:p>
            <a:pPr indent="0" marL="0">
              <a:buNone/>
            </a:pPr>
            <a:endParaRPr altLang="en-US" dirty="0" sz="3000" lang="en-US">
              <a:solidFill>
                <a:srgbClr val="032E59"/>
              </a:solidFill>
            </a:endParaRPr>
          </a:p>
          <a:p>
            <a:pPr indent="0" marL="0">
              <a:buNone/>
            </a:pPr>
            <a:r>
              <a:rPr altLang="en-US" dirty="0" sz="3000" lang="en-US">
                <a:solidFill>
                  <a:srgbClr val="032E59"/>
                </a:solidFill>
              </a:rPr>
              <a:t>• Inventory recorded in notebooks</a:t>
            </a:r>
            <a:endParaRPr altLang="en-US" dirty="0" sz="3000" lang="en-US">
              <a:solidFill>
                <a:srgbClr val="032E59"/>
              </a:solidFill>
            </a:endParaRPr>
          </a:p>
          <a:p>
            <a:pPr indent="0" marL="0">
              <a:buNone/>
            </a:pPr>
            <a:r>
              <a:rPr altLang="en-US" dirty="0" sz="3000" lang="en-US">
                <a:solidFill>
                  <a:srgbClr val="032E59"/>
                </a:solidFill>
              </a:rPr>
              <a:t>• Products counted one by one</a:t>
            </a:r>
            <a:endParaRPr altLang="en-US" dirty="0" sz="3000" lang="en-US">
              <a:solidFill>
                <a:srgbClr val="032E59"/>
              </a:solidFill>
            </a:endParaRPr>
          </a:p>
          <a:p>
            <a:pPr indent="0" marL="0">
              <a:buNone/>
            </a:pPr>
            <a:r>
              <a:rPr altLang="en-US" dirty="0" sz="3000" lang="en-US">
                <a:solidFill>
                  <a:srgbClr val="032E59"/>
                </a:solidFill>
              </a:rPr>
              <a:t>• Sales computed using calculator</a:t>
            </a:r>
            <a:endParaRPr altLang="en-US" dirty="0" sz="3000" lang="en-US">
              <a:solidFill>
                <a:srgbClr val="032E59"/>
              </a:solidFill>
            </a:endParaRPr>
          </a:p>
          <a:p>
            <a:pPr indent="0" marL="0">
              <a:buNone/>
            </a:pPr>
            <a:r>
              <a:rPr altLang="en-US" dirty="0" sz="3000" lang="en-US">
                <a:solidFill>
                  <a:srgbClr val="032E59"/>
                </a:solidFill>
              </a:rPr>
              <a:t>• Reports prepared manually</a:t>
            </a:r>
            <a:endParaRPr altLang="en-US" dirty="0" sz="30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65" name=""/>
        <p:cNvGrpSpPr/>
        <p:nvPr/>
      </p:nvGrpSpPr>
      <p:grpSpPr>
        <a:xfrm>
          <a:off x="0" y="0"/>
          <a:ext cx="0" cy="0"/>
          <a:chOff x="0" y="0"/>
          <a:chExt cx="0" cy="0"/>
        </a:xfrm>
      </p:grpSpPr>
      <p:sp>
        <p:nvSpPr>
          <p:cNvPr id="1048619" name="Rectangle 1"/>
          <p:cNvSpPr/>
          <p:nvPr/>
        </p:nvSpPr>
        <p:spPr>
          <a:xfrm>
            <a:off x="250783" y="273185"/>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Background</a:t>
            </a:r>
            <a:endParaRPr dirty="0" sz="2000" lang="en-PH" spc="300"/>
          </a:p>
        </p:txBody>
      </p:sp>
      <p:sp>
        <p:nvSpPr>
          <p:cNvPr id="1048620" name="Content Placeholder 2"/>
          <p:cNvSpPr>
            <a:spLocks noGrp="1"/>
          </p:cNvSpPr>
          <p:nvPr>
            <p:ph idx="1"/>
          </p:nvPr>
        </p:nvSpPr>
        <p:spPr>
          <a:xfrm>
            <a:off x="585281" y="1076595"/>
            <a:ext cx="10515600" cy="5071285"/>
          </a:xfrm>
        </p:spPr>
        <p:txBody>
          <a:bodyPr>
            <a:noAutofit/>
          </a:bodyPr>
          <a:p>
            <a:pPr indent="0" marL="0">
              <a:buNone/>
            </a:pPr>
            <a:r>
              <a:rPr altLang="en-US" dirty="0" sz="3000" lang="en-US">
                <a:solidFill>
                  <a:srgbClr val="032E59"/>
                </a:solidFill>
              </a:rPr>
              <a:t>Resulting Problems</a:t>
            </a:r>
            <a:endParaRPr altLang="en-US" dirty="0" sz="3000" lang="en-US">
              <a:solidFill>
                <a:srgbClr val="032E59"/>
              </a:solidFill>
            </a:endParaRPr>
          </a:p>
          <a:p>
            <a:pPr indent="0" marL="0">
              <a:buNone/>
            </a:pPr>
            <a:endParaRPr altLang="en-US" dirty="0" sz="3000" lang="en-US">
              <a:solidFill>
                <a:srgbClr val="032E59"/>
              </a:solidFill>
            </a:endParaRPr>
          </a:p>
          <a:p>
            <a:pPr indent="0" marL="0">
              <a:buNone/>
            </a:pPr>
            <a:r>
              <a:rPr altLang="en-US" dirty="0" sz="3000" lang="en-US">
                <a:solidFill>
                  <a:srgbClr val="032E59"/>
                </a:solidFill>
              </a:rPr>
              <a:t>• Time-consuming inventory process</a:t>
            </a:r>
            <a:endParaRPr altLang="en-US" dirty="0" sz="3000" lang="en-US">
              <a:solidFill>
                <a:srgbClr val="032E59"/>
              </a:solidFill>
            </a:endParaRPr>
          </a:p>
          <a:p>
            <a:pPr indent="0" marL="0">
              <a:buNone/>
            </a:pPr>
            <a:r>
              <a:rPr altLang="en-US" dirty="0" sz="3000" lang="en-US">
                <a:solidFill>
                  <a:srgbClr val="032E59"/>
                </a:solidFill>
              </a:rPr>
              <a:t>• Prone to human errors</a:t>
            </a:r>
            <a:endParaRPr altLang="en-US" dirty="0" sz="3000" lang="en-US">
              <a:solidFill>
                <a:srgbClr val="032E59"/>
              </a:solidFill>
            </a:endParaRPr>
          </a:p>
          <a:p>
            <a:pPr indent="0" marL="0">
              <a:buNone/>
            </a:pPr>
            <a:r>
              <a:rPr altLang="en-US" dirty="0" sz="3000" lang="en-US">
                <a:solidFill>
                  <a:srgbClr val="032E59"/>
                </a:solidFill>
              </a:rPr>
              <a:t>• Difficulty monitoring stock levels</a:t>
            </a:r>
            <a:endParaRPr altLang="en-US" dirty="0" sz="3000" lang="en-US">
              <a:solidFill>
                <a:srgbClr val="032E59"/>
              </a:solidFill>
            </a:endParaRPr>
          </a:p>
          <a:p>
            <a:pPr indent="0" marL="0">
              <a:buNone/>
            </a:pPr>
            <a:r>
              <a:rPr altLang="en-US" dirty="0" sz="3000" lang="en-US">
                <a:solidFill>
                  <a:srgbClr val="032E59"/>
                </a:solidFill>
              </a:rPr>
              <a:t>• Slow preparation of sales reports</a:t>
            </a:r>
            <a:endParaRPr altLang="en-US" dirty="0" sz="30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66" name=""/>
        <p:cNvGrpSpPr/>
        <p:nvPr/>
      </p:nvGrpSpPr>
      <p:grpSpPr>
        <a:xfrm>
          <a:off x="0" y="0"/>
          <a:ext cx="0" cy="0"/>
          <a:chOff x="0" y="0"/>
          <a:chExt cx="0" cy="0"/>
        </a:xfrm>
      </p:grpSpPr>
      <p:sp>
        <p:nvSpPr>
          <p:cNvPr id="1048621" name="Rectangle 1"/>
          <p:cNvSpPr/>
          <p:nvPr/>
        </p:nvSpPr>
        <p:spPr>
          <a:xfrm>
            <a:off x="250783" y="273185"/>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Background</a:t>
            </a:r>
            <a:endParaRPr dirty="0" sz="2000" lang="en-PH" spc="300"/>
          </a:p>
        </p:txBody>
      </p:sp>
      <p:pic>
        <p:nvPicPr>
          <p:cNvPr id="2097154" name="Content Placeholder 3" descr="fa1cabbd-7f91-4dd4-a96f-7cb30e6b150c"/>
          <p:cNvPicPr>
            <a:picLocks noChangeAspect="1"/>
          </p:cNvPicPr>
          <p:nvPr>
            <p:ph idx="1"/>
          </p:nvPr>
        </p:nvPicPr>
        <p:blipFill>
          <a:blip xmlns:r="http://schemas.openxmlformats.org/officeDocument/2006/relationships" r:embed="rId2"/>
          <a:stretch>
            <a:fillRect/>
          </a:stretch>
        </p:blipFill>
        <p:spPr>
          <a:xfrm>
            <a:off x="2470150" y="998855"/>
            <a:ext cx="6602730" cy="514921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67" name=""/>
        <p:cNvGrpSpPr/>
        <p:nvPr/>
      </p:nvGrpSpPr>
      <p:grpSpPr>
        <a:xfrm>
          <a:off x="0" y="0"/>
          <a:ext cx="0" cy="0"/>
          <a:chOff x="0" y="0"/>
          <a:chExt cx="0" cy="0"/>
        </a:xfrm>
      </p:grpSpPr>
      <p:sp>
        <p:nvSpPr>
          <p:cNvPr id="1048622" name="Rectangle 1"/>
          <p:cNvSpPr/>
          <p:nvPr/>
        </p:nvSpPr>
        <p:spPr>
          <a:xfrm>
            <a:off x="250783" y="273185"/>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Background</a:t>
            </a:r>
            <a:endParaRPr dirty="0" sz="2000" lang="en-PH" spc="300"/>
          </a:p>
        </p:txBody>
      </p:sp>
      <p:sp>
        <p:nvSpPr>
          <p:cNvPr id="1048623" name="Content Placeholder 2"/>
          <p:cNvSpPr>
            <a:spLocks noGrp="1"/>
          </p:cNvSpPr>
          <p:nvPr>
            <p:ph idx="1"/>
          </p:nvPr>
        </p:nvSpPr>
        <p:spPr>
          <a:xfrm>
            <a:off x="585281" y="1076595"/>
            <a:ext cx="10515600" cy="5071285"/>
          </a:xfrm>
        </p:spPr>
        <p:txBody>
          <a:bodyPr>
            <a:noAutofit/>
          </a:bodyPr>
          <a:p>
            <a:pPr indent="0" marL="0">
              <a:buNone/>
            </a:pPr>
            <a:r>
              <a:rPr altLang="en-US" dirty="0" sz="3000" lang="en-US">
                <a:solidFill>
                  <a:srgbClr val="032E59"/>
                </a:solidFill>
              </a:rPr>
              <a:t>Benefits of the System</a:t>
            </a:r>
            <a:endParaRPr altLang="en-US" dirty="0" sz="3000" lang="en-US">
              <a:solidFill>
                <a:srgbClr val="032E59"/>
              </a:solidFill>
            </a:endParaRPr>
          </a:p>
          <a:p>
            <a:pPr indent="0" marL="0">
              <a:buNone/>
            </a:pPr>
            <a:endParaRPr altLang="en-US" dirty="0" sz="3000" lang="en-US">
              <a:solidFill>
                <a:srgbClr val="032E59"/>
              </a:solidFill>
            </a:endParaRPr>
          </a:p>
          <a:p>
            <a:pPr indent="0" marL="0">
              <a:buNone/>
            </a:pPr>
            <a:r>
              <a:rPr altLang="en-US" dirty="0" sz="3000" lang="en-US">
                <a:solidFill>
                  <a:srgbClr val="032E59"/>
                </a:solidFill>
              </a:rPr>
              <a:t>• Faster inventory monitoring</a:t>
            </a:r>
            <a:endParaRPr altLang="en-US" dirty="0" sz="3000" lang="en-US">
              <a:solidFill>
                <a:srgbClr val="032E59"/>
              </a:solidFill>
            </a:endParaRPr>
          </a:p>
          <a:p>
            <a:pPr indent="0" marL="0">
              <a:buNone/>
            </a:pPr>
            <a:r>
              <a:rPr altLang="en-US" dirty="0" sz="3000" lang="en-US">
                <a:solidFill>
                  <a:srgbClr val="032E59"/>
                </a:solidFill>
              </a:rPr>
              <a:t>• Accurate stock records</a:t>
            </a:r>
            <a:endParaRPr altLang="en-US" dirty="0" sz="3000" lang="en-US">
              <a:solidFill>
                <a:srgbClr val="032E59"/>
              </a:solidFill>
            </a:endParaRPr>
          </a:p>
          <a:p>
            <a:pPr indent="0" marL="0">
              <a:buNone/>
            </a:pPr>
            <a:r>
              <a:rPr altLang="en-US" dirty="0" sz="3000" lang="en-US">
                <a:solidFill>
                  <a:srgbClr val="032E59"/>
                </a:solidFill>
              </a:rPr>
              <a:t>• Automatic report generation</a:t>
            </a:r>
            <a:endParaRPr altLang="en-US" dirty="0" sz="3000" lang="en-US">
              <a:solidFill>
                <a:srgbClr val="032E59"/>
              </a:solidFill>
            </a:endParaRPr>
          </a:p>
          <a:p>
            <a:pPr indent="0" marL="0">
              <a:buNone/>
            </a:pPr>
            <a:r>
              <a:rPr altLang="en-US" dirty="0" sz="3000" lang="en-US">
                <a:solidFill>
                  <a:srgbClr val="032E59"/>
                </a:solidFill>
              </a:rPr>
              <a:t>• Improved store management</a:t>
            </a:r>
            <a:endParaRPr altLang="en-US" dirty="0" sz="30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68" name=""/>
        <p:cNvGrpSpPr/>
        <p:nvPr/>
      </p:nvGrpSpPr>
      <p:grpSpPr>
        <a:xfrm>
          <a:off x="0" y="0"/>
          <a:ext cx="0" cy="0"/>
          <a:chOff x="0" y="0"/>
          <a:chExt cx="0" cy="0"/>
        </a:xfrm>
      </p:grpSpPr>
      <p:sp>
        <p:nvSpPr>
          <p:cNvPr id="1048624" name="Content Placeholder 2"/>
          <p:cNvSpPr>
            <a:spLocks noGrp="1"/>
          </p:cNvSpPr>
          <p:nvPr>
            <p:ph idx="1"/>
          </p:nvPr>
        </p:nvSpPr>
        <p:spPr>
          <a:xfrm>
            <a:off x="585470" y="1278255"/>
            <a:ext cx="11243310" cy="5274945"/>
          </a:xfrm>
        </p:spPr>
        <p:txBody>
          <a:bodyPr>
            <a:noAutofit/>
          </a:bodyPr>
          <a:p>
            <a:pPr algn="l" indent="0" marL="0">
              <a:buNone/>
            </a:pPr>
            <a:r>
              <a:rPr altLang="en-US" dirty="0" sz="3500" lang="en-US">
                <a:solidFill>
                  <a:srgbClr val="032E59"/>
                </a:solidFill>
              </a:rPr>
              <a:t>Purok Narra (SLP) Convenience Store uses a manual system where inventory is recorded in notebooks and sales are calculated using calculators. This process is time-consuming, prone to errors, and makes stock monitoring difficult.</a:t>
            </a:r>
            <a:endParaRPr altLang="en-US" dirty="0" sz="3500" lang="en-US">
              <a:solidFill>
                <a:srgbClr val="032E59"/>
              </a:solidFill>
            </a:endParaRPr>
          </a:p>
        </p:txBody>
      </p:sp>
      <p:sp>
        <p:nvSpPr>
          <p:cNvPr id="1048625" name="Rectangle 3"/>
          <p:cNvSpPr/>
          <p:nvPr/>
        </p:nvSpPr>
        <p:spPr>
          <a:xfrm>
            <a:off x="318770" y="389890"/>
            <a:ext cx="4253865" cy="701040"/>
          </a:xfrm>
          <a:prstGeom prst="rect"/>
          <a:solidFill>
            <a:srgbClr val="FFC000"/>
          </a:solidFill>
        </p:spPr>
        <p:txBody>
          <a:bodyPr wrap="square">
            <a:spAutoFit/>
          </a:bodyPr>
          <a:p>
            <a:r>
              <a:rPr altLang="en-PH" dirty="0" sz="2000" lang="en-US" spc="300"/>
              <a:t>Statement of the Problem</a:t>
            </a:r>
            <a:endParaRPr altLang="en-PH" dirty="0" sz="2000" lang="en-US" spc="30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69" name=""/>
        <p:cNvGrpSpPr/>
        <p:nvPr/>
      </p:nvGrpSpPr>
      <p:grpSpPr>
        <a:xfrm>
          <a:off x="0" y="0"/>
          <a:ext cx="0" cy="0"/>
          <a:chOff x="0" y="0"/>
          <a:chExt cx="0" cy="0"/>
        </a:xfrm>
      </p:grpSpPr>
      <p:sp>
        <p:nvSpPr>
          <p:cNvPr id="1048626" name="Content Placeholder 2"/>
          <p:cNvSpPr>
            <a:spLocks noGrp="1"/>
          </p:cNvSpPr>
          <p:nvPr>
            <p:ph idx="1"/>
          </p:nvPr>
        </p:nvSpPr>
        <p:spPr>
          <a:xfrm>
            <a:off x="585470" y="1288415"/>
            <a:ext cx="11243310" cy="5274945"/>
          </a:xfrm>
        </p:spPr>
        <p:txBody>
          <a:bodyPr>
            <a:noAutofit/>
          </a:bodyPr>
          <a:p>
            <a:pPr algn="l" indent="-514350" marL="514350">
              <a:buAutoNum type="arabicPeriod"/>
            </a:pPr>
            <a:r>
              <a:rPr altLang="en-US" dirty="0" sz="3500" lang="en-US">
                <a:solidFill>
                  <a:srgbClr val="032E59"/>
                </a:solidFill>
              </a:rPr>
              <a:t>What are the challenges encountered in the current manual inventory system used by Purok Narra (SLP) Convenience Store?</a:t>
            </a:r>
            <a:endParaRPr altLang="en-US" dirty="0" sz="3500" lang="en-US">
              <a:solidFill>
                <a:srgbClr val="032E59"/>
              </a:solidFill>
            </a:endParaRPr>
          </a:p>
          <a:p>
            <a:pPr algn="l" indent="-514350" marL="514350">
              <a:buAutoNum type="arabicPeriod"/>
            </a:pPr>
            <a:r>
              <a:rPr altLang="en-US" dirty="0" sz="3500" lang="en-US">
                <a:solidFill>
                  <a:srgbClr val="032E59"/>
                </a:solidFill>
              </a:rPr>
              <a:t>How can an ERP-Based Inventory System be designed to improve the inventory management of the store?</a:t>
            </a:r>
            <a:endParaRPr altLang="en-US" dirty="0" sz="3500" lang="en-US">
              <a:solidFill>
                <a:srgbClr val="032E59"/>
              </a:solidFill>
            </a:endParaRPr>
          </a:p>
          <a:p>
            <a:pPr algn="l" indent="-514350" marL="514350">
              <a:buAutoNum type="arabicPeriod"/>
            </a:pPr>
            <a:r>
              <a:rPr altLang="en-US" dirty="0" sz="3500" lang="en-US">
                <a:solidFill>
                  <a:srgbClr val="032E59"/>
                </a:solidFill>
              </a:rPr>
              <a:t>How can the system generate accurate and timely inventory and sales reports for the store?</a:t>
            </a:r>
            <a:endParaRPr altLang="en-US" dirty="0" sz="3500" lang="en-US">
              <a:solidFill>
                <a:srgbClr val="032E59"/>
              </a:solidFill>
            </a:endParaRPr>
          </a:p>
          <a:p>
            <a:pPr algn="l" indent="0" marL="0">
              <a:buNone/>
            </a:pPr>
            <a:endParaRPr altLang="en-US" dirty="0" sz="3500" lang="en-US">
              <a:solidFill>
                <a:srgbClr val="032E59"/>
              </a:solidFill>
            </a:endParaRPr>
          </a:p>
        </p:txBody>
      </p:sp>
      <p:sp>
        <p:nvSpPr>
          <p:cNvPr id="1048627" name="Rectangle 3"/>
          <p:cNvSpPr/>
          <p:nvPr/>
        </p:nvSpPr>
        <p:spPr>
          <a:xfrm>
            <a:off x="318770" y="389890"/>
            <a:ext cx="4253865" cy="701040"/>
          </a:xfrm>
          <a:prstGeom prst="rect"/>
          <a:solidFill>
            <a:srgbClr val="FFC000"/>
          </a:solidFill>
        </p:spPr>
        <p:txBody>
          <a:bodyPr wrap="square">
            <a:spAutoFit/>
          </a:bodyPr>
          <a:p>
            <a:r>
              <a:rPr altLang="en-PH" b="1" dirty="0" sz="2000" lang="en-US" spc="300"/>
              <a:t>Statement of the Problem</a:t>
            </a:r>
            <a:endParaRPr altLang="en-PH" b="1" dirty="0" sz="2000" lang="en-US" spc="30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57" name=""/>
        <p:cNvGrpSpPr/>
        <p:nvPr/>
      </p:nvGrpSpPr>
      <p:grpSpPr>
        <a:xfrm>
          <a:off x="0" y="0"/>
          <a:ext cx="0" cy="0"/>
          <a:chOff x="0" y="0"/>
          <a:chExt cx="0" cy="0"/>
        </a:xfrm>
      </p:grpSpPr>
      <p:sp>
        <p:nvSpPr>
          <p:cNvPr id="1048602" name="Content Placeholder 2"/>
          <p:cNvSpPr>
            <a:spLocks noGrp="1"/>
          </p:cNvSpPr>
          <p:nvPr>
            <p:ph idx="1"/>
          </p:nvPr>
        </p:nvSpPr>
        <p:spPr>
          <a:xfrm>
            <a:off x="585280" y="1076595"/>
            <a:ext cx="11243553" cy="5391487"/>
          </a:xfrm>
        </p:spPr>
        <p:txBody>
          <a:bodyPr>
            <a:noAutofit/>
          </a:bodyPr>
          <a:p>
            <a:pPr indent="0" marL="0">
              <a:buNone/>
            </a:pPr>
            <a:r>
              <a:rPr altLang="en-US" dirty="0" sz="3500" lang="en-US">
                <a:solidFill>
                  <a:srgbClr val="032E59"/>
                </a:solidFill>
              </a:rPr>
              <a:t>General Objective:</a:t>
            </a:r>
            <a:endParaRPr altLang="en-US" dirty="0" sz="3500" lang="en-US">
              <a:solidFill>
                <a:srgbClr val="032E59"/>
              </a:solidFill>
            </a:endParaRPr>
          </a:p>
          <a:p>
            <a:pPr indent="0" marL="0">
              <a:buNone/>
            </a:pPr>
            <a:endParaRPr altLang="en-US" dirty="0" sz="3500" lang="en-US">
              <a:solidFill>
                <a:srgbClr val="032E59"/>
              </a:solidFill>
            </a:endParaRPr>
          </a:p>
          <a:p>
            <a:pPr indent="0" marL="0">
              <a:buNone/>
            </a:pPr>
            <a:r>
              <a:rPr altLang="en-US" dirty="0" sz="3500" lang="en-US">
                <a:solidFill>
                  <a:srgbClr val="032E59"/>
                </a:solidFill>
              </a:rPr>
              <a:t>Develop an ERP-Based Inventory System for</a:t>
            </a:r>
            <a:endParaRPr altLang="en-US" dirty="0" sz="3500" lang="en-US">
              <a:solidFill>
                <a:srgbClr val="032E59"/>
              </a:solidFill>
            </a:endParaRPr>
          </a:p>
          <a:p>
            <a:pPr indent="0" marL="0">
              <a:buNone/>
            </a:pPr>
            <a:r>
              <a:rPr altLang="en-US" dirty="0" sz="3500" lang="en-US">
                <a:solidFill>
                  <a:srgbClr val="032E59"/>
                </a:solidFill>
              </a:rPr>
              <a:t>Purok Narra (SLP) Convenience Store</a:t>
            </a:r>
            <a:endParaRPr altLang="en-US" dirty="0" sz="3500" lang="en-US">
              <a:solidFill>
                <a:srgbClr val="032E59"/>
              </a:solidFill>
            </a:endParaRPr>
          </a:p>
        </p:txBody>
      </p:sp>
      <p:sp>
        <p:nvSpPr>
          <p:cNvPr id="1048603" name="Rectangle 3"/>
          <p:cNvSpPr/>
          <p:nvPr/>
        </p:nvSpPr>
        <p:spPr>
          <a:xfrm>
            <a:off x="318877" y="389917"/>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Objectives</a:t>
            </a:r>
            <a:endParaRPr dirty="0" sz="2000" lang="en-PH" spc="30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55" name=""/>
        <p:cNvGrpSpPr/>
        <p:nvPr/>
      </p:nvGrpSpPr>
      <p:grpSpPr>
        <a:xfrm>
          <a:off x="0" y="0"/>
          <a:ext cx="0" cy="0"/>
          <a:chOff x="0" y="0"/>
          <a:chExt cx="0" cy="0"/>
        </a:xfrm>
      </p:grpSpPr>
      <p:sp>
        <p:nvSpPr>
          <p:cNvPr id="1048598" name="Content Placeholder 2"/>
          <p:cNvSpPr>
            <a:spLocks noGrp="1"/>
          </p:cNvSpPr>
          <p:nvPr>
            <p:ph idx="1"/>
          </p:nvPr>
        </p:nvSpPr>
        <p:spPr>
          <a:xfrm>
            <a:off x="585280" y="1076595"/>
            <a:ext cx="11243553" cy="5391487"/>
          </a:xfrm>
        </p:spPr>
        <p:txBody>
          <a:bodyPr>
            <a:noAutofit/>
          </a:bodyPr>
          <a:p>
            <a:pPr indent="0" marL="0">
              <a:buNone/>
            </a:pPr>
            <a:r>
              <a:rPr altLang="en-US" dirty="0" sz="3500" lang="en-US">
                <a:solidFill>
                  <a:srgbClr val="032E59"/>
                </a:solidFill>
              </a:rPr>
              <a:t>Key Objective:</a:t>
            </a:r>
            <a:endParaRPr altLang="en-US" dirty="0" sz="3500" lang="en-US">
              <a:solidFill>
                <a:srgbClr val="032E59"/>
              </a:solidFill>
            </a:endParaRPr>
          </a:p>
          <a:p>
            <a:pPr indent="0" marL="0">
              <a:buNone/>
            </a:pPr>
            <a:endParaRPr altLang="en-US" dirty="0" sz="3500" lang="en-US">
              <a:solidFill>
                <a:srgbClr val="032E59"/>
              </a:solidFill>
            </a:endParaRPr>
          </a:p>
          <a:p>
            <a:pPr indent="0" marL="0">
              <a:buNone/>
            </a:pPr>
            <a:r>
              <a:rPr altLang="en-US" dirty="0" sz="3500" lang="en-US">
                <a:solidFill>
                  <a:srgbClr val="032E59"/>
                </a:solidFill>
              </a:rPr>
              <a:t>1.To make a streamline inventory management.</a:t>
            </a:r>
            <a:endParaRPr altLang="en-US" dirty="0" sz="3500" lang="en-US">
              <a:solidFill>
                <a:srgbClr val="032E59"/>
              </a:solidFill>
            </a:endParaRPr>
          </a:p>
          <a:p>
            <a:pPr indent="0" marL="0">
              <a:buNone/>
            </a:pPr>
            <a:r>
              <a:rPr altLang="en-US" dirty="0" sz="3500" lang="en-US">
                <a:solidFill>
                  <a:srgbClr val="032E59"/>
                </a:solidFill>
              </a:rPr>
              <a:t>2. To speed up sales transactions.</a:t>
            </a:r>
            <a:endParaRPr altLang="en-US" dirty="0" sz="3500" lang="en-US">
              <a:solidFill>
                <a:srgbClr val="032E59"/>
              </a:solidFill>
            </a:endParaRPr>
          </a:p>
          <a:p>
            <a:pPr indent="0" marL="0">
              <a:buNone/>
            </a:pPr>
            <a:r>
              <a:rPr altLang="en-US" dirty="0" sz="3500" lang="en-US">
                <a:solidFill>
                  <a:srgbClr val="032E59"/>
                </a:solidFill>
              </a:rPr>
              <a:t>3. To provide faster business reports.</a:t>
            </a:r>
            <a:endParaRPr altLang="en-US" dirty="0" sz="3500" lang="en-US">
              <a:solidFill>
                <a:srgbClr val="032E59"/>
              </a:solidFill>
            </a:endParaRPr>
          </a:p>
        </p:txBody>
      </p:sp>
      <p:sp>
        <p:nvSpPr>
          <p:cNvPr id="1048599" name="Rectangle 3"/>
          <p:cNvSpPr/>
          <p:nvPr/>
        </p:nvSpPr>
        <p:spPr>
          <a:xfrm>
            <a:off x="318877" y="389917"/>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Objectives</a:t>
            </a:r>
            <a:endParaRPr dirty="0" sz="2000" lang="en-PH" spc="30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51" name=""/>
        <p:cNvGrpSpPr/>
        <p:nvPr/>
      </p:nvGrpSpPr>
      <p:grpSpPr>
        <a:xfrm>
          <a:off x="0" y="0"/>
          <a:ext cx="0" cy="0"/>
          <a:chOff x="0" y="0"/>
          <a:chExt cx="0" cy="0"/>
        </a:xfrm>
      </p:grpSpPr>
      <p:sp>
        <p:nvSpPr>
          <p:cNvPr id="1048592" name="Rectangle 1"/>
          <p:cNvSpPr/>
          <p:nvPr/>
        </p:nvSpPr>
        <p:spPr>
          <a:xfrm>
            <a:off x="250825" y="273050"/>
            <a:ext cx="4159257" cy="396240"/>
          </a:xfrm>
          <a:prstGeom prst="rect"/>
          <a:solidFill>
            <a:srgbClr val="FFC000"/>
          </a:solidFill>
        </p:spPr>
        <p:txBody>
          <a:bodyPr wrap="square">
            <a:spAutoFit/>
          </a:bodyPr>
          <a:p>
            <a:r>
              <a:rPr altLang="en-US" dirty="0" sz="2000" lang="en-US" spc="300"/>
              <a:t>Theoretical Framework</a:t>
            </a:r>
            <a:endParaRPr altLang="en-US" dirty="0" sz="2000" lang="en-US" spc="300"/>
          </a:p>
        </p:txBody>
      </p:sp>
      <p:sp>
        <p:nvSpPr>
          <p:cNvPr id="1048593" name="Content Placeholder 2"/>
          <p:cNvSpPr>
            <a:spLocks noGrp="1"/>
          </p:cNvSpPr>
          <p:nvPr>
            <p:ph idx="1"/>
          </p:nvPr>
        </p:nvSpPr>
        <p:spPr>
          <a:xfrm>
            <a:off x="585281" y="1077230"/>
            <a:ext cx="10515600" cy="5071285"/>
          </a:xfrm>
        </p:spPr>
        <p:txBody>
          <a:bodyPr>
            <a:noAutofit/>
          </a:bodyPr>
          <a:p>
            <a:pPr indent="0" marL="0">
              <a:buNone/>
            </a:pPr>
            <a:r>
              <a:rPr altLang="en-US" dirty="0" sz="2700" lang="en-US">
                <a:solidFill>
                  <a:srgbClr val="032E59"/>
                </a:solidFill>
              </a:rPr>
              <a:t>This study is anchored on the </a:t>
            </a:r>
            <a:r>
              <a:rPr altLang="en-US" dirty="0" sz="2700" lang="en-US">
                <a:solidFill>
                  <a:srgbClr val="032E59"/>
                </a:solidFill>
              </a:rPr>
              <a:t>t</a:t>
            </a:r>
            <a:r>
              <a:rPr altLang="en-US" dirty="0" sz="2700" lang="en-US">
                <a:solidFill>
                  <a:srgbClr val="032E59"/>
                </a:solidFill>
              </a:rPr>
              <a:t>h</a:t>
            </a:r>
            <a:r>
              <a:rPr altLang="en-US" dirty="0" sz="2700" lang="en-US">
                <a:solidFill>
                  <a:srgbClr val="032E59"/>
                </a:solidFill>
              </a:rPr>
              <a:t>e</a:t>
            </a:r>
            <a:r>
              <a:rPr altLang="en-US" dirty="0" sz="2700" lang="en-US">
                <a:solidFill>
                  <a:srgbClr val="032E59"/>
                </a:solidFill>
              </a:rPr>
              <a:t>o</a:t>
            </a:r>
            <a:r>
              <a:rPr altLang="en-US" dirty="0" sz="2700" lang="en-US">
                <a:solidFill>
                  <a:srgbClr val="032E59"/>
                </a:solidFill>
              </a:rPr>
              <a:t>r</a:t>
            </a:r>
            <a:r>
              <a:rPr altLang="en-US" dirty="0" sz="2700" lang="en-US">
                <a:solidFill>
                  <a:srgbClr val="032E59"/>
                </a:solidFill>
              </a:rPr>
              <a:t>y </a:t>
            </a:r>
            <a:r>
              <a:rPr altLang="en-US" dirty="0" sz="2700" lang="en-US">
                <a:solidFill>
                  <a:srgbClr val="032E59"/>
                </a:solidFill>
              </a:rPr>
              <a:t>proposed by Rajeev K. K. (2008), which identifies financial limitations, human factors, technology, and organizational concerns as key variables affecting inventory management effectiveness. The framework highlights the challenges small-scale convenience stores face, such as limited resources and staff constraints. By integrating affordable technology and simplifying workflows, the proposed system aims to create a practical and sustainable inventory management solution for local businesses.</a:t>
            </a:r>
            <a:endParaRPr altLang="en-US" dirty="0" sz="27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37" name=""/>
        <p:cNvGrpSpPr/>
        <p:nvPr/>
      </p:nvGrpSpPr>
      <p:grpSpPr>
        <a:xfrm>
          <a:off x="0" y="0"/>
          <a:ext cx="0" cy="0"/>
          <a:chOff x="0" y="0"/>
          <a:chExt cx="0" cy="0"/>
        </a:xfrm>
      </p:grpSpPr>
      <p:sp>
        <p:nvSpPr>
          <p:cNvPr id="1048586" name="Rectangle 1"/>
          <p:cNvSpPr/>
          <p:nvPr/>
        </p:nvSpPr>
        <p:spPr>
          <a:xfrm>
            <a:off x="250825" y="273050"/>
            <a:ext cx="1864685" cy="396240"/>
          </a:xfrm>
          <a:prstGeom prst="rect"/>
          <a:solidFill>
            <a:srgbClr val="FFC000"/>
          </a:solidFill>
        </p:spPr>
        <p:txBody>
          <a:bodyPr wrap="square">
            <a:spAutoFit/>
          </a:bodyPr>
          <a:p>
            <a:r>
              <a:rPr altLang="en-US" dirty="0" sz="2000" lang="en-US" spc="300"/>
              <a:t>M</a:t>
            </a:r>
            <a:r>
              <a:rPr altLang="en-US" dirty="0" sz="2000" lang="en-US" spc="300"/>
              <a:t>e</a:t>
            </a:r>
            <a:r>
              <a:rPr altLang="en-US" dirty="0" sz="2000" lang="en-US" spc="300"/>
              <a:t>t</a:t>
            </a:r>
            <a:r>
              <a:rPr altLang="en-US" dirty="0" sz="2000" lang="en-US" spc="300"/>
              <a:t>h</a:t>
            </a:r>
            <a:r>
              <a:rPr altLang="en-US" dirty="0" sz="2000" lang="en-US" spc="300"/>
              <a:t>o</a:t>
            </a:r>
            <a:r>
              <a:rPr altLang="en-US" dirty="0" sz="2000" lang="en-US" spc="300"/>
              <a:t>d</a:t>
            </a:r>
            <a:r>
              <a:rPr altLang="en-US" dirty="0" sz="2000" lang="en-US" spc="300"/>
              <a:t>s</a:t>
            </a:r>
            <a:r>
              <a:rPr altLang="en-US" dirty="0" sz="2000" lang="en-US" spc="300"/>
              <a:t> </a:t>
            </a:r>
            <a:endParaRPr altLang="en-US" dirty="0" sz="2000" lang="en-US" spc="300"/>
          </a:p>
        </p:txBody>
      </p:sp>
      <p:sp>
        <p:nvSpPr>
          <p:cNvPr id="1048587" name="Content Placeholder 2"/>
          <p:cNvSpPr>
            <a:spLocks noGrp="1"/>
          </p:cNvSpPr>
          <p:nvPr>
            <p:ph idx="1"/>
          </p:nvPr>
        </p:nvSpPr>
        <p:spPr>
          <a:xfrm>
            <a:off x="585281" y="1077230"/>
            <a:ext cx="10515600" cy="5071285"/>
          </a:xfrm>
        </p:spPr>
        <p:txBody>
          <a:bodyPr>
            <a:noAutofit/>
          </a:bodyPr>
          <a:p>
            <a:pPr indent="0" marL="0">
              <a:buNone/>
            </a:pPr>
            <a:r>
              <a:rPr altLang="en-US" dirty="0" sz="2700" lang="en-US">
                <a:solidFill>
                  <a:srgbClr val="032E59"/>
                </a:solidFill>
              </a:rPr>
              <a:t>This study is anchored on the </a:t>
            </a:r>
            <a:r>
              <a:rPr altLang="en-US" dirty="0" sz="2700" lang="en-US">
                <a:solidFill>
                  <a:srgbClr val="032E59"/>
                </a:solidFill>
              </a:rPr>
              <a:t>t</a:t>
            </a:r>
            <a:r>
              <a:rPr altLang="en-US" dirty="0" sz="2700" lang="en-US">
                <a:solidFill>
                  <a:srgbClr val="032E59"/>
                </a:solidFill>
              </a:rPr>
              <a:t>h</a:t>
            </a:r>
            <a:r>
              <a:rPr altLang="en-US" dirty="0" sz="2700" lang="en-US">
                <a:solidFill>
                  <a:srgbClr val="032E59"/>
                </a:solidFill>
              </a:rPr>
              <a:t>e</a:t>
            </a:r>
            <a:r>
              <a:rPr altLang="en-US" dirty="0" sz="2700" lang="en-US">
                <a:solidFill>
                  <a:srgbClr val="032E59"/>
                </a:solidFill>
              </a:rPr>
              <a:t>o</a:t>
            </a:r>
            <a:r>
              <a:rPr altLang="en-US" dirty="0" sz="2700" lang="en-US">
                <a:solidFill>
                  <a:srgbClr val="032E59"/>
                </a:solidFill>
              </a:rPr>
              <a:t>r</a:t>
            </a:r>
            <a:r>
              <a:rPr altLang="en-US" dirty="0" sz="2700" lang="en-US">
                <a:solidFill>
                  <a:srgbClr val="032E59"/>
                </a:solidFill>
              </a:rPr>
              <a:t>y </a:t>
            </a:r>
            <a:r>
              <a:rPr altLang="en-US" dirty="0" sz="2700" lang="en-US">
                <a:solidFill>
                  <a:srgbClr val="032E59"/>
                </a:solidFill>
              </a:rPr>
              <a:t>proposed by Rajeev K. K. (2008), which identifies financial limitations, human factors, technology, and organizational concerns as key variables affecting inventory management effectiveness. The framework highlights the challenges small-scale convenience stores face, such as limited resources and staff constraints. By integrating affordable technology and simplifying workflows, the proposed system aims to create a practical and sustainable inventory management solution for local businesses.</a:t>
            </a:r>
            <a:endParaRPr altLang="en-US" dirty="0" sz="27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50" name=""/>
        <p:cNvGrpSpPr/>
        <p:nvPr/>
      </p:nvGrpSpPr>
      <p:grpSpPr>
        <a:xfrm>
          <a:off x="0" y="0"/>
          <a:ext cx="0" cy="0"/>
          <a:chOff x="0" y="0"/>
          <a:chExt cx="0" cy="0"/>
        </a:xfrm>
      </p:grpSpPr>
      <p:sp>
        <p:nvSpPr>
          <p:cNvPr id="1048590" name="Rectangle 1"/>
          <p:cNvSpPr/>
          <p:nvPr/>
        </p:nvSpPr>
        <p:spPr>
          <a:xfrm>
            <a:off x="250783" y="273185"/>
            <a:ext cx="2219353" cy="629920"/>
          </a:xfrm>
          <a:prstGeom prst="rect"/>
          <a:solidFill>
            <a:srgbClr val="FFC000"/>
          </a:solidFill>
        </p:spPr>
        <p:txBody>
          <a:bodyPr wrap="square">
            <a:spAutoFit/>
          </a:bodyPr>
          <a:p>
            <a:r>
              <a:rPr altLang="en-PH" dirty="0" sz="3500" lang="en-US" spc="300"/>
              <a:t>Title:2</a:t>
            </a:r>
            <a:endParaRPr altLang="en-PH" dirty="0" sz="3500" lang="en-US" spc="300"/>
          </a:p>
        </p:txBody>
      </p:sp>
      <p:sp>
        <p:nvSpPr>
          <p:cNvPr id="1048591" name="Content Placeholder 2"/>
          <p:cNvSpPr>
            <a:spLocks noGrp="1"/>
          </p:cNvSpPr>
          <p:nvPr>
            <p:ph idx="1"/>
          </p:nvPr>
        </p:nvSpPr>
        <p:spPr>
          <a:xfrm>
            <a:off x="585281" y="1076595"/>
            <a:ext cx="10515600" cy="5071285"/>
          </a:xfrm>
        </p:spPr>
        <p:txBody>
          <a:bodyPr>
            <a:noAutofit/>
          </a:bodyPr>
          <a:p>
            <a:pPr algn="ctr" indent="0" marL="0">
              <a:buNone/>
            </a:pPr>
            <a:endParaRPr altLang="en-US" dirty="0" sz="3500" lang="en-US">
              <a:solidFill>
                <a:srgbClr val="032E59"/>
              </a:solidFill>
            </a:endParaRPr>
          </a:p>
          <a:p>
            <a:pPr algn="ctr" indent="0" marL="0">
              <a:buNone/>
            </a:pPr>
            <a:endParaRPr altLang="en-US" dirty="0" sz="3500" lang="en-US">
              <a:solidFill>
                <a:srgbClr val="032E59"/>
              </a:solidFill>
            </a:endParaRPr>
          </a:p>
          <a:p>
            <a:pPr algn="ctr" indent="0" marL="0">
              <a:buNone/>
            </a:pPr>
            <a:endParaRPr altLang="en-US" dirty="0" sz="3500" lang="en-US">
              <a:solidFill>
                <a:srgbClr val="032E59"/>
              </a:solidFill>
            </a:endParaRPr>
          </a:p>
          <a:p>
            <a:pPr algn="ctr" indent="0" marL="0">
              <a:buNone/>
            </a:pPr>
            <a:r>
              <a:rPr altLang="en-US" b="1" dirty="0" sz="4400" lang="en-US">
                <a:solidFill>
                  <a:srgbClr val="032E59"/>
                </a:solidFill>
                <a:sym typeface="+mn-ea"/>
              </a:rPr>
              <a:t>OJT Monitoring System</a:t>
            </a:r>
            <a:endParaRPr altLang="en-US" b="1" dirty="0" sz="4400" lang="en-US">
              <a:solidFill>
                <a:srgbClr val="032E59"/>
              </a:solidFill>
            </a:endParaRPr>
          </a:p>
          <a:p>
            <a:pPr algn="ctr" indent="0" marL="0">
              <a:buNone/>
            </a:pPr>
            <a:endParaRPr altLang="en-US" dirty="0" sz="3500" lang="en-US">
              <a:solidFill>
                <a:srgbClr val="032E59"/>
              </a:solidFill>
            </a:endParaRPr>
          </a:p>
          <a:p>
            <a:pPr algn="ctr" indent="0" marL="0">
              <a:buNone/>
            </a:pPr>
            <a:endParaRPr altLang="en-US" dirty="0" sz="35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54" name=""/>
        <p:cNvGrpSpPr/>
        <p:nvPr/>
      </p:nvGrpSpPr>
      <p:grpSpPr>
        <a:xfrm>
          <a:off x="0" y="0"/>
          <a:ext cx="0" cy="0"/>
          <a:chOff x="0" y="0"/>
          <a:chExt cx="0" cy="0"/>
        </a:xfrm>
      </p:grpSpPr>
      <p:sp>
        <p:nvSpPr>
          <p:cNvPr id="1048596" name="Rectangle 1"/>
          <p:cNvSpPr/>
          <p:nvPr/>
        </p:nvSpPr>
        <p:spPr>
          <a:xfrm>
            <a:off x="250783" y="273185"/>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Background</a:t>
            </a:r>
            <a:endParaRPr dirty="0" sz="2000" lang="en-PH" spc="300"/>
          </a:p>
        </p:txBody>
      </p:sp>
      <p:sp>
        <p:nvSpPr>
          <p:cNvPr id="1048597" name="Content Placeholder 2"/>
          <p:cNvSpPr>
            <a:spLocks noGrp="1"/>
          </p:cNvSpPr>
          <p:nvPr>
            <p:ph idx="1"/>
          </p:nvPr>
        </p:nvSpPr>
        <p:spPr>
          <a:xfrm>
            <a:off x="585281" y="1076595"/>
            <a:ext cx="10515600" cy="5071285"/>
          </a:xfrm>
        </p:spPr>
        <p:txBody>
          <a:bodyPr>
            <a:noAutofit/>
          </a:bodyPr>
          <a:p>
            <a:pPr indent="0" marL="0">
              <a:buNone/>
            </a:pPr>
            <a:r>
              <a:rPr altLang="en-US" dirty="0" sz="3000" lang="en-US">
                <a:solidFill>
                  <a:srgbClr val="032E59"/>
                </a:solidFill>
              </a:rPr>
              <a:t>Current Situation</a:t>
            </a:r>
            <a:endParaRPr altLang="en-US" dirty="0" sz="3000" lang="en-US">
              <a:solidFill>
                <a:srgbClr val="032E59"/>
              </a:solidFill>
            </a:endParaRPr>
          </a:p>
          <a:p>
            <a:pPr indent="0" marL="0">
              <a:buNone/>
            </a:pPr>
            <a:endParaRPr altLang="en-US" dirty="0" sz="3000" lang="en-US">
              <a:solidFill>
                <a:srgbClr val="032E59"/>
              </a:solidFill>
            </a:endParaRPr>
          </a:p>
          <a:p>
            <a:pPr indent="0" marL="0">
              <a:buNone/>
            </a:pPr>
            <a:r>
              <a:rPr altLang="en-US" dirty="0" sz="3000" lang="en-US">
                <a:solidFill>
                  <a:srgbClr val="032E59"/>
                </a:solidFill>
              </a:rPr>
              <a:t>• Students submit paper-based logs</a:t>
            </a:r>
            <a:endParaRPr altLang="en-US" dirty="0" sz="3000" lang="en-US">
              <a:solidFill>
                <a:srgbClr val="032E59"/>
              </a:solidFill>
            </a:endParaRPr>
          </a:p>
          <a:p>
            <a:pPr indent="0" marL="0">
              <a:buNone/>
            </a:pPr>
            <a:r>
              <a:rPr altLang="en-US" dirty="0" sz="3000" lang="en-US">
                <a:solidFill>
                  <a:srgbClr val="032E59"/>
                </a:solidFill>
              </a:rPr>
              <a:t>• Supervisors review manual records</a:t>
            </a:r>
            <a:endParaRPr altLang="en-US" dirty="0" sz="3000" lang="en-US">
              <a:solidFill>
                <a:srgbClr val="032E59"/>
              </a:solidFill>
            </a:endParaRPr>
          </a:p>
          <a:p>
            <a:pPr indent="0" marL="0">
              <a:buNone/>
            </a:pPr>
            <a:r>
              <a:rPr altLang="en-US" dirty="0" sz="3000" lang="en-US">
                <a:solidFill>
                  <a:srgbClr val="032E59"/>
                </a:solidFill>
              </a:rPr>
              <a:t>• Reports prepared manually</a:t>
            </a:r>
            <a:endParaRPr altLang="en-US" dirty="0" sz="3000" lang="en-US">
              <a:solidFill>
                <a:srgbClr val="032E59"/>
              </a:solidFill>
            </a:endParaRPr>
          </a:p>
          <a:p>
            <a:pPr indent="0" marL="0">
              <a:buNone/>
            </a:pPr>
            <a:r>
              <a:rPr altLang="en-US" dirty="0" sz="3000" lang="en-US">
                <a:solidFill>
                  <a:srgbClr val="032E59"/>
                </a:solidFill>
              </a:rPr>
              <a:t>• Progress tracking is time-consuming</a:t>
            </a:r>
            <a:endParaRPr altLang="en-US" dirty="0" sz="30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56" name=""/>
        <p:cNvGrpSpPr/>
        <p:nvPr/>
      </p:nvGrpSpPr>
      <p:grpSpPr>
        <a:xfrm>
          <a:off x="0" y="0"/>
          <a:ext cx="0" cy="0"/>
          <a:chOff x="0" y="0"/>
          <a:chExt cx="0" cy="0"/>
        </a:xfrm>
      </p:grpSpPr>
      <p:sp>
        <p:nvSpPr>
          <p:cNvPr id="1048600" name="Rectangle 1"/>
          <p:cNvSpPr/>
          <p:nvPr/>
        </p:nvSpPr>
        <p:spPr>
          <a:xfrm>
            <a:off x="250783" y="273185"/>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Background</a:t>
            </a:r>
            <a:endParaRPr dirty="0" sz="2000" lang="en-PH" spc="300"/>
          </a:p>
        </p:txBody>
      </p:sp>
      <p:sp>
        <p:nvSpPr>
          <p:cNvPr id="1048601" name="Content Placeholder 2"/>
          <p:cNvSpPr>
            <a:spLocks noGrp="1"/>
          </p:cNvSpPr>
          <p:nvPr>
            <p:ph idx="1"/>
          </p:nvPr>
        </p:nvSpPr>
        <p:spPr>
          <a:xfrm>
            <a:off x="585281" y="1076595"/>
            <a:ext cx="10515600" cy="5071285"/>
          </a:xfrm>
        </p:spPr>
        <p:txBody>
          <a:bodyPr>
            <a:noAutofit/>
          </a:bodyPr>
          <a:p>
            <a:pPr indent="0" marL="0">
              <a:buNone/>
            </a:pPr>
            <a:r>
              <a:rPr altLang="en-US" dirty="0" sz="3000" lang="en-US">
                <a:solidFill>
                  <a:srgbClr val="032E59"/>
                </a:solidFill>
              </a:rPr>
              <a:t>Resulting Problems</a:t>
            </a:r>
            <a:endParaRPr altLang="en-US" dirty="0" sz="3000" lang="en-US">
              <a:solidFill>
                <a:srgbClr val="032E59"/>
              </a:solidFill>
            </a:endParaRPr>
          </a:p>
          <a:p>
            <a:pPr indent="0" marL="0">
              <a:buNone/>
            </a:pPr>
            <a:endParaRPr altLang="en-US" dirty="0" sz="3000" lang="en-US">
              <a:solidFill>
                <a:srgbClr val="032E59"/>
              </a:solidFill>
            </a:endParaRPr>
          </a:p>
          <a:p>
            <a:pPr indent="0" marL="0">
              <a:buNone/>
            </a:pPr>
            <a:r>
              <a:rPr altLang="en-US" dirty="0" sz="3000" lang="en-US">
                <a:solidFill>
                  <a:srgbClr val="032E59"/>
                </a:solidFill>
              </a:rPr>
              <a:t>• Delayed evaluation of student performance</a:t>
            </a:r>
            <a:endParaRPr altLang="en-US" dirty="0" sz="3000" lang="en-US">
              <a:solidFill>
                <a:srgbClr val="032E59"/>
              </a:solidFill>
            </a:endParaRPr>
          </a:p>
          <a:p>
            <a:pPr indent="0" marL="0">
              <a:buNone/>
            </a:pPr>
            <a:r>
              <a:rPr altLang="en-US" dirty="0" sz="3000" lang="en-US">
                <a:solidFill>
                  <a:srgbClr val="032E59"/>
                </a:solidFill>
              </a:rPr>
              <a:t>• Prone to errors and missing data</a:t>
            </a:r>
            <a:endParaRPr altLang="en-US" dirty="0" sz="3000" lang="en-US">
              <a:solidFill>
                <a:srgbClr val="032E59"/>
              </a:solidFill>
            </a:endParaRPr>
          </a:p>
          <a:p>
            <a:pPr indent="0" marL="0">
              <a:buNone/>
            </a:pPr>
            <a:r>
              <a:rPr altLang="en-US" dirty="0" sz="3000" lang="en-US">
                <a:solidFill>
                  <a:srgbClr val="032E59"/>
                </a:solidFill>
              </a:rPr>
              <a:t>• Difficulty monitoring multiple students simultaneously</a:t>
            </a:r>
            <a:endParaRPr altLang="en-US" dirty="0" sz="3000" lang="en-US">
              <a:solidFill>
                <a:srgbClr val="032E59"/>
              </a:solidFill>
            </a:endParaRPr>
          </a:p>
          <a:p>
            <a:pPr indent="0" marL="0">
              <a:buNone/>
            </a:pPr>
            <a:r>
              <a:rPr altLang="en-US" dirty="0" sz="3000" lang="en-US">
                <a:solidFill>
                  <a:srgbClr val="032E59"/>
                </a:solidFill>
              </a:rPr>
              <a:t>• Hard to generate accurate reports</a:t>
            </a:r>
            <a:endParaRPr altLang="en-US" dirty="0" sz="30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70" name=""/>
        <p:cNvGrpSpPr/>
        <p:nvPr/>
      </p:nvGrpSpPr>
      <p:grpSpPr>
        <a:xfrm>
          <a:off x="0" y="0"/>
          <a:ext cx="0" cy="0"/>
          <a:chOff x="0" y="0"/>
          <a:chExt cx="0" cy="0"/>
        </a:xfrm>
      </p:grpSpPr>
      <p:sp>
        <p:nvSpPr>
          <p:cNvPr id="1048628" name="Rectangle 1"/>
          <p:cNvSpPr/>
          <p:nvPr/>
        </p:nvSpPr>
        <p:spPr>
          <a:xfrm>
            <a:off x="250783" y="273185"/>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Background</a:t>
            </a:r>
            <a:endParaRPr dirty="0" sz="2000" lang="en-PH" spc="300"/>
          </a:p>
        </p:txBody>
      </p:sp>
      <p:pic>
        <p:nvPicPr>
          <p:cNvPr id="2097155" name="Content Placeholder 3" descr="BCO.6957c60b-6335-4b47-887e-b25f44f1ba34"/>
          <p:cNvPicPr>
            <a:picLocks noChangeAspect="1"/>
          </p:cNvPicPr>
          <p:nvPr>
            <p:ph idx="1"/>
          </p:nvPr>
        </p:nvPicPr>
        <p:blipFill>
          <a:blip xmlns:r="http://schemas.openxmlformats.org/officeDocument/2006/relationships" r:embed="rId2"/>
          <a:stretch>
            <a:fillRect/>
          </a:stretch>
        </p:blipFill>
        <p:spPr>
          <a:xfrm>
            <a:off x="2910205" y="1076325"/>
            <a:ext cx="6371590" cy="507174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71" name=""/>
        <p:cNvGrpSpPr/>
        <p:nvPr/>
      </p:nvGrpSpPr>
      <p:grpSpPr>
        <a:xfrm>
          <a:off x="0" y="0"/>
          <a:ext cx="0" cy="0"/>
          <a:chOff x="0" y="0"/>
          <a:chExt cx="0" cy="0"/>
        </a:xfrm>
      </p:grpSpPr>
      <p:sp>
        <p:nvSpPr>
          <p:cNvPr id="1048629" name="Rectangle 1"/>
          <p:cNvSpPr/>
          <p:nvPr/>
        </p:nvSpPr>
        <p:spPr>
          <a:xfrm>
            <a:off x="250783" y="273185"/>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Background</a:t>
            </a:r>
            <a:endParaRPr dirty="0" sz="2000" lang="en-PH" spc="300"/>
          </a:p>
        </p:txBody>
      </p:sp>
      <p:sp>
        <p:nvSpPr>
          <p:cNvPr id="1048630" name="Content Placeholder 2"/>
          <p:cNvSpPr>
            <a:spLocks noGrp="1"/>
          </p:cNvSpPr>
          <p:nvPr>
            <p:ph idx="1"/>
          </p:nvPr>
        </p:nvSpPr>
        <p:spPr>
          <a:xfrm>
            <a:off x="585281" y="1076595"/>
            <a:ext cx="10515600" cy="5071285"/>
          </a:xfrm>
        </p:spPr>
        <p:txBody>
          <a:bodyPr>
            <a:noAutofit/>
          </a:bodyPr>
          <a:p>
            <a:pPr indent="0" marL="0">
              <a:buNone/>
            </a:pPr>
            <a:r>
              <a:rPr altLang="en-US" dirty="0" sz="3000" lang="en-US">
                <a:solidFill>
                  <a:srgbClr val="032E59"/>
                </a:solidFill>
              </a:rPr>
              <a:t>Benefits of the System</a:t>
            </a:r>
            <a:endParaRPr altLang="en-US" dirty="0" sz="3000" lang="en-US">
              <a:solidFill>
                <a:srgbClr val="032E59"/>
              </a:solidFill>
            </a:endParaRPr>
          </a:p>
          <a:p>
            <a:pPr indent="0" marL="0">
              <a:buNone/>
            </a:pPr>
            <a:endParaRPr altLang="en-US" dirty="0" sz="3000" lang="en-US">
              <a:solidFill>
                <a:srgbClr val="032E59"/>
              </a:solidFill>
            </a:endParaRPr>
          </a:p>
          <a:p>
            <a:pPr indent="0" marL="0">
              <a:buNone/>
            </a:pPr>
            <a:r>
              <a:rPr altLang="en-US" dirty="0" sz="3000" lang="en-US">
                <a:solidFill>
                  <a:srgbClr val="032E59"/>
                </a:solidFill>
              </a:rPr>
              <a:t>• Real-time monitoring of student performance</a:t>
            </a:r>
            <a:endParaRPr altLang="en-US" dirty="0" sz="3000" lang="en-US">
              <a:solidFill>
                <a:srgbClr val="032E59"/>
              </a:solidFill>
            </a:endParaRPr>
          </a:p>
          <a:p>
            <a:pPr indent="0" marL="0">
              <a:buNone/>
            </a:pPr>
            <a:r>
              <a:rPr altLang="en-US" dirty="0" sz="3000" lang="en-US">
                <a:solidFill>
                  <a:srgbClr val="032E59"/>
                </a:solidFill>
              </a:rPr>
              <a:t>• Accurate and complete records</a:t>
            </a:r>
            <a:endParaRPr altLang="en-US" dirty="0" sz="3000" lang="en-US">
              <a:solidFill>
                <a:srgbClr val="032E59"/>
              </a:solidFill>
            </a:endParaRPr>
          </a:p>
          <a:p>
            <a:pPr indent="0" marL="0">
              <a:buNone/>
            </a:pPr>
            <a:r>
              <a:rPr altLang="en-US" dirty="0" sz="3000" lang="en-US">
                <a:solidFill>
                  <a:srgbClr val="032E59"/>
                </a:solidFill>
              </a:rPr>
              <a:t>• Automatic report generation</a:t>
            </a:r>
            <a:endParaRPr altLang="en-US" dirty="0" sz="3000" lang="en-US">
              <a:solidFill>
                <a:srgbClr val="032E59"/>
              </a:solidFill>
            </a:endParaRPr>
          </a:p>
          <a:p>
            <a:pPr indent="0" marL="0">
              <a:buNone/>
            </a:pPr>
            <a:r>
              <a:rPr altLang="en-US" dirty="0" sz="3000" lang="en-US">
                <a:solidFill>
                  <a:srgbClr val="032E59"/>
                </a:solidFill>
              </a:rPr>
              <a:t>• Faster evaluation and feedback</a:t>
            </a:r>
            <a:endParaRPr altLang="en-US" dirty="0" sz="30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72" name=""/>
        <p:cNvGrpSpPr/>
        <p:nvPr/>
      </p:nvGrpSpPr>
      <p:grpSpPr>
        <a:xfrm>
          <a:off x="0" y="0"/>
          <a:ext cx="0" cy="0"/>
          <a:chOff x="0" y="0"/>
          <a:chExt cx="0" cy="0"/>
        </a:xfrm>
      </p:grpSpPr>
      <p:sp>
        <p:nvSpPr>
          <p:cNvPr id="1048631" name="Rectangle 1"/>
          <p:cNvSpPr/>
          <p:nvPr/>
        </p:nvSpPr>
        <p:spPr>
          <a:xfrm>
            <a:off x="250825" y="273050"/>
            <a:ext cx="3702050" cy="701039"/>
          </a:xfrm>
          <a:prstGeom prst="rect"/>
          <a:solidFill>
            <a:srgbClr val="FFC000"/>
          </a:solidFill>
        </p:spPr>
        <p:txBody>
          <a:bodyPr wrap="square">
            <a:spAutoFit/>
          </a:bodyPr>
          <a:p>
            <a:r>
              <a:rPr altLang="en-US" dirty="0" sz="2000" lang="en-US" spc="300"/>
              <a:t>Theoretical Framework</a:t>
            </a:r>
            <a:endParaRPr altLang="en-US" dirty="0" sz="2000" lang="en-US" spc="300"/>
          </a:p>
        </p:txBody>
      </p:sp>
      <p:sp>
        <p:nvSpPr>
          <p:cNvPr id="1048632" name="Content Placeholder 2"/>
          <p:cNvSpPr>
            <a:spLocks noGrp="1"/>
          </p:cNvSpPr>
          <p:nvPr>
            <p:ph idx="1"/>
          </p:nvPr>
        </p:nvSpPr>
        <p:spPr>
          <a:xfrm>
            <a:off x="585281" y="1077230"/>
            <a:ext cx="10515600" cy="5071285"/>
          </a:xfrm>
        </p:spPr>
        <p:txBody>
          <a:bodyPr>
            <a:noAutofit/>
          </a:bodyPr>
          <a:p>
            <a:pPr indent="0" marL="0">
              <a:buNone/>
            </a:pPr>
            <a:r>
              <a:rPr altLang="en-US" dirty="0" sz="3500" lang="en-US">
                <a:solidFill>
                  <a:srgbClr val="032E59"/>
                </a:solidFill>
              </a:rPr>
              <a:t>This study is anchored on Management Information Systems (MIS) Theory which emphasizes the role of technology in organizing, processing, and delivering information to support decision-making and efficiency by Laudon et al., 2016. By applying MIS principles the system ensures accurate tracking of student progress, attendance, and performance, thereby improving transparency, accountability, and collaboration between students, supervisors, and coordinators.</a:t>
            </a:r>
            <a:endParaRPr altLang="en-US" dirty="0" sz="3500" lang="en-US">
              <a:solidFill>
                <a:srgbClr val="032E59"/>
              </a:solidFill>
            </a:endParaRPr>
          </a:p>
          <a:p>
            <a:pPr indent="0" marL="0">
              <a:buNone/>
            </a:pPr>
            <a:endParaRPr altLang="en-US" dirty="0" sz="35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75" name=""/>
        <p:cNvGrpSpPr/>
        <p:nvPr/>
      </p:nvGrpSpPr>
      <p:grpSpPr>
        <a:xfrm>
          <a:off x="0" y="0"/>
          <a:ext cx="0" cy="0"/>
          <a:chOff x="0" y="0"/>
          <a:chExt cx="0" cy="0"/>
        </a:xfrm>
      </p:grpSpPr>
      <p:sp>
        <p:nvSpPr>
          <p:cNvPr id="1048635" name="Content Placeholder 2"/>
          <p:cNvSpPr>
            <a:spLocks noGrp="1"/>
          </p:cNvSpPr>
          <p:nvPr>
            <p:ph idx="1"/>
          </p:nvPr>
        </p:nvSpPr>
        <p:spPr>
          <a:xfrm>
            <a:off x="585470" y="1278255"/>
            <a:ext cx="11243310" cy="5274945"/>
          </a:xfrm>
        </p:spPr>
        <p:txBody>
          <a:bodyPr>
            <a:noAutofit/>
          </a:bodyPr>
          <a:p>
            <a:pPr algn="l" indent="0" marL="0">
              <a:buNone/>
            </a:pPr>
            <a:r>
              <a:rPr altLang="en-US" dirty="0" lang="en-US">
                <a:solidFill>
                  <a:srgbClr val="032E59"/>
                </a:solidFill>
              </a:rPr>
              <a:t>Current OJT monitoring is done manually using paper logs and spreadsheets, making tracking and evaluation slow, error-prone, and inefficient.</a:t>
            </a:r>
            <a:endParaRPr altLang="en-US" dirty="0" lang="en-US">
              <a:solidFill>
                <a:srgbClr val="032E59"/>
              </a:solidFill>
            </a:endParaRPr>
          </a:p>
          <a:p>
            <a:pPr algn="l" indent="-514350" marL="514350">
              <a:buAutoNum type="arabicPeriod"/>
            </a:pPr>
            <a:r>
              <a:rPr altLang="en-US" dirty="0" lang="en-US">
                <a:solidFill>
                  <a:srgbClr val="032E59"/>
                </a:solidFill>
              </a:rPr>
              <a:t>How can the OJT monitoring process be automated to reduce manual work and errors?</a:t>
            </a:r>
            <a:endParaRPr altLang="en-US" dirty="0" lang="en-US">
              <a:solidFill>
                <a:srgbClr val="032E59"/>
              </a:solidFill>
            </a:endParaRPr>
          </a:p>
          <a:p>
            <a:pPr algn="l" indent="-514350" marL="514350">
              <a:buAutoNum type="arabicPeriod"/>
            </a:pPr>
            <a:r>
              <a:rPr altLang="en-US" dirty="0" lang="en-US">
                <a:solidFill>
                  <a:srgbClr val="032E59"/>
                </a:solidFill>
              </a:rPr>
              <a:t>How can the system provide real-time tracking of student performance?</a:t>
            </a:r>
            <a:endParaRPr altLang="en-US" dirty="0" lang="en-US">
              <a:solidFill>
                <a:srgbClr val="032E59"/>
              </a:solidFill>
            </a:endParaRPr>
          </a:p>
          <a:p>
            <a:pPr algn="l" indent="-514350" marL="514350">
              <a:buAutoNum type="arabicPeriod"/>
            </a:pPr>
            <a:r>
              <a:rPr altLang="en-US" dirty="0" lang="en-US">
                <a:solidFill>
                  <a:srgbClr val="032E59"/>
                </a:solidFill>
              </a:rPr>
              <a:t>How can automated reporting improve the evaluation and feedback process for supervisors and coordinators?</a:t>
            </a:r>
            <a:endParaRPr altLang="en-US" dirty="0" lang="en-US">
              <a:solidFill>
                <a:srgbClr val="032E59"/>
              </a:solidFill>
            </a:endParaRPr>
          </a:p>
          <a:p>
            <a:pPr algn="l" indent="-514350" marL="514350">
              <a:buAutoNum type="arabicPeriod"/>
            </a:pPr>
            <a:r>
              <a:rPr altLang="en-US" dirty="0" lang="en-US">
                <a:solidFill>
                  <a:srgbClr val="032E59"/>
                </a:solidFill>
              </a:rPr>
              <a:t>How can a digital OJT monitoring system enhance accessibility and organization of student records?</a:t>
            </a:r>
            <a:endParaRPr altLang="en-US" dirty="0" lang="en-US">
              <a:solidFill>
                <a:srgbClr val="032E59"/>
              </a:solidFill>
            </a:endParaRPr>
          </a:p>
          <a:p>
            <a:pPr algn="l" indent="0" marL="0">
              <a:buNone/>
            </a:pPr>
            <a:endParaRPr altLang="en-US" dirty="0" lang="en-US">
              <a:solidFill>
                <a:srgbClr val="032E59"/>
              </a:solidFill>
            </a:endParaRPr>
          </a:p>
        </p:txBody>
      </p:sp>
      <p:sp>
        <p:nvSpPr>
          <p:cNvPr id="1048636" name="Rectangle 3"/>
          <p:cNvSpPr/>
          <p:nvPr/>
        </p:nvSpPr>
        <p:spPr>
          <a:xfrm>
            <a:off x="318770" y="389890"/>
            <a:ext cx="4253865" cy="701040"/>
          </a:xfrm>
          <a:prstGeom prst="rect"/>
          <a:solidFill>
            <a:srgbClr val="FFC000"/>
          </a:solidFill>
        </p:spPr>
        <p:txBody>
          <a:bodyPr wrap="square">
            <a:spAutoFit/>
          </a:bodyPr>
          <a:p>
            <a:r>
              <a:rPr altLang="en-PH" dirty="0" sz="2000" lang="en-US" spc="300"/>
              <a:t>Statement of the Problem</a:t>
            </a:r>
            <a:endParaRPr altLang="en-PH" dirty="0" sz="2000" lang="en-US" spc="30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76" name=""/>
        <p:cNvGrpSpPr/>
        <p:nvPr/>
      </p:nvGrpSpPr>
      <p:grpSpPr>
        <a:xfrm>
          <a:off x="0" y="0"/>
          <a:ext cx="0" cy="0"/>
          <a:chOff x="0" y="0"/>
          <a:chExt cx="0" cy="0"/>
        </a:xfrm>
      </p:grpSpPr>
      <p:sp>
        <p:nvSpPr>
          <p:cNvPr id="1048637" name="Content Placeholder 2"/>
          <p:cNvSpPr>
            <a:spLocks noGrp="1"/>
          </p:cNvSpPr>
          <p:nvPr>
            <p:ph idx="1"/>
          </p:nvPr>
        </p:nvSpPr>
        <p:spPr>
          <a:xfrm>
            <a:off x="585280" y="1076595"/>
            <a:ext cx="11243553" cy="5391487"/>
          </a:xfrm>
        </p:spPr>
        <p:txBody>
          <a:bodyPr>
            <a:noAutofit/>
          </a:bodyPr>
          <a:p>
            <a:pPr indent="0" marL="0">
              <a:buNone/>
            </a:pPr>
            <a:r>
              <a:rPr altLang="en-US" dirty="0" sz="3500" lang="en-US">
                <a:solidFill>
                  <a:srgbClr val="032E59"/>
                </a:solidFill>
              </a:rPr>
              <a:t>General Objective</a:t>
            </a:r>
            <a:endParaRPr altLang="en-US" dirty="0" sz="3500" lang="en-US">
              <a:solidFill>
                <a:srgbClr val="032E59"/>
              </a:solidFill>
            </a:endParaRPr>
          </a:p>
          <a:p>
            <a:pPr indent="0" marL="0">
              <a:buNone/>
            </a:pPr>
            <a:endParaRPr altLang="en-US" dirty="0" sz="3500" lang="en-US">
              <a:solidFill>
                <a:srgbClr val="032E59"/>
              </a:solidFill>
            </a:endParaRPr>
          </a:p>
          <a:p>
            <a:pPr indent="0" marL="0">
              <a:buNone/>
            </a:pPr>
            <a:r>
              <a:rPr altLang="en-US" dirty="0" sz="3500" lang="en-US">
                <a:solidFill>
                  <a:srgbClr val="032E59"/>
                </a:solidFill>
              </a:rPr>
              <a:t>Develop an OJT Monitoring System to automate the tracking, evaluation, and reporting of student performance during training.</a:t>
            </a:r>
            <a:endParaRPr altLang="en-US" dirty="0" sz="3500" lang="en-US">
              <a:solidFill>
                <a:srgbClr val="032E59"/>
              </a:solidFill>
            </a:endParaRPr>
          </a:p>
        </p:txBody>
      </p:sp>
      <p:sp>
        <p:nvSpPr>
          <p:cNvPr id="1048638" name="Rectangle 3"/>
          <p:cNvSpPr/>
          <p:nvPr/>
        </p:nvSpPr>
        <p:spPr>
          <a:xfrm>
            <a:off x="318877" y="389917"/>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Objectives</a:t>
            </a:r>
            <a:endParaRPr dirty="0" sz="2000" lang="en-PH" spc="30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77" name=""/>
        <p:cNvGrpSpPr/>
        <p:nvPr/>
      </p:nvGrpSpPr>
      <p:grpSpPr>
        <a:xfrm>
          <a:off x="0" y="0"/>
          <a:ext cx="0" cy="0"/>
          <a:chOff x="0" y="0"/>
          <a:chExt cx="0" cy="0"/>
        </a:xfrm>
      </p:grpSpPr>
      <p:sp>
        <p:nvSpPr>
          <p:cNvPr id="1048639" name="Content Placeholder 2"/>
          <p:cNvSpPr>
            <a:spLocks noGrp="1"/>
          </p:cNvSpPr>
          <p:nvPr>
            <p:ph idx="1"/>
          </p:nvPr>
        </p:nvSpPr>
        <p:spPr>
          <a:xfrm>
            <a:off x="585280" y="1076595"/>
            <a:ext cx="11243553" cy="5391487"/>
          </a:xfrm>
        </p:spPr>
        <p:txBody>
          <a:bodyPr>
            <a:noAutofit/>
          </a:bodyPr>
          <a:p>
            <a:pPr indent="0" marL="0">
              <a:buNone/>
            </a:pPr>
            <a:r>
              <a:rPr altLang="en-US" dirty="0" sz="3500" lang="en-US">
                <a:solidFill>
                  <a:srgbClr val="032E59"/>
                </a:solidFill>
              </a:rPr>
              <a:t>Key Objectives</a:t>
            </a:r>
            <a:endParaRPr altLang="en-US" dirty="0" sz="3500" lang="en-US">
              <a:solidFill>
                <a:srgbClr val="032E59"/>
              </a:solidFill>
            </a:endParaRPr>
          </a:p>
          <a:p>
            <a:pPr indent="0" marL="0">
              <a:buNone/>
            </a:pPr>
            <a:endParaRPr altLang="en-US" dirty="0" sz="3500" lang="en-US">
              <a:solidFill>
                <a:srgbClr val="032E59"/>
              </a:solidFill>
            </a:endParaRPr>
          </a:p>
          <a:p>
            <a:pPr indent="-514350" marL="514350">
              <a:buAutoNum type="arabicPeriod"/>
            </a:pPr>
            <a:r>
              <a:rPr altLang="en-US" dirty="0" sz="3500" lang="en-US">
                <a:solidFill>
                  <a:srgbClr val="032E59"/>
                </a:solidFill>
              </a:rPr>
              <a:t>Replace manual logs with a digital system for efficient and accurate record-keeping.</a:t>
            </a:r>
            <a:endParaRPr altLang="en-US" dirty="0" sz="3500" lang="en-US">
              <a:solidFill>
                <a:srgbClr val="032E59"/>
              </a:solidFill>
            </a:endParaRPr>
          </a:p>
          <a:p>
            <a:pPr indent="-514350" marL="514350">
              <a:buAutoNum type="arabicPeriod"/>
            </a:pPr>
            <a:r>
              <a:rPr altLang="en-US" dirty="0" sz="3500" lang="en-US">
                <a:solidFill>
                  <a:srgbClr val="032E59"/>
                </a:solidFill>
              </a:rPr>
              <a:t>Allow Professors to track student progress instantly.</a:t>
            </a:r>
            <a:endParaRPr altLang="en-US" dirty="0" sz="3500" lang="en-US">
              <a:solidFill>
                <a:srgbClr val="032E59"/>
              </a:solidFill>
            </a:endParaRPr>
          </a:p>
          <a:p>
            <a:pPr indent="-514350" marL="514350">
              <a:buAutoNum type="arabicPeriod"/>
            </a:pPr>
            <a:r>
              <a:rPr altLang="en-US" dirty="0" sz="3500" lang="en-US">
                <a:solidFill>
                  <a:srgbClr val="032E59"/>
                </a:solidFill>
              </a:rPr>
              <a:t>Produce accurate and timely performance reports for evaluation and feedback.</a:t>
            </a:r>
            <a:endParaRPr altLang="en-US" dirty="0" sz="3500" lang="en-US">
              <a:solidFill>
                <a:srgbClr val="032E59"/>
              </a:solidFill>
            </a:endParaRPr>
          </a:p>
        </p:txBody>
      </p:sp>
      <p:sp>
        <p:nvSpPr>
          <p:cNvPr id="1048640" name="Rectangle 3"/>
          <p:cNvSpPr/>
          <p:nvPr/>
        </p:nvSpPr>
        <p:spPr>
          <a:xfrm>
            <a:off x="318877" y="389917"/>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Objectives</a:t>
            </a:r>
            <a:endParaRPr dirty="0" sz="2000" lang="en-PH" spc="30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78" name=""/>
        <p:cNvGrpSpPr/>
        <p:nvPr/>
      </p:nvGrpSpPr>
      <p:grpSpPr>
        <a:xfrm>
          <a:off x="0" y="0"/>
          <a:ext cx="0" cy="0"/>
          <a:chOff x="0" y="0"/>
          <a:chExt cx="0" cy="0"/>
        </a:xfrm>
      </p:grpSpPr>
      <p:sp>
        <p:nvSpPr>
          <p:cNvPr id="1048641" name="Rectangle 1"/>
          <p:cNvSpPr/>
          <p:nvPr/>
        </p:nvSpPr>
        <p:spPr>
          <a:xfrm>
            <a:off x="250783" y="273185"/>
            <a:ext cx="2219353" cy="629920"/>
          </a:xfrm>
          <a:prstGeom prst="rect"/>
          <a:solidFill>
            <a:srgbClr val="FFC000"/>
          </a:solidFill>
        </p:spPr>
        <p:txBody>
          <a:bodyPr wrap="square">
            <a:spAutoFit/>
          </a:bodyPr>
          <a:p>
            <a:r>
              <a:rPr altLang="en-PH" dirty="0" sz="3500" lang="en-US" spc="300"/>
              <a:t>Title:3</a:t>
            </a:r>
            <a:endParaRPr altLang="en-PH" dirty="0" sz="3500" lang="en-US" spc="300"/>
          </a:p>
        </p:txBody>
      </p:sp>
      <p:sp>
        <p:nvSpPr>
          <p:cNvPr id="1048642" name="Content Placeholder 2"/>
          <p:cNvSpPr>
            <a:spLocks noGrp="1"/>
          </p:cNvSpPr>
          <p:nvPr>
            <p:ph idx="1"/>
          </p:nvPr>
        </p:nvSpPr>
        <p:spPr>
          <a:xfrm>
            <a:off x="585281" y="1076595"/>
            <a:ext cx="10515600" cy="5071285"/>
          </a:xfrm>
        </p:spPr>
        <p:txBody>
          <a:bodyPr>
            <a:noAutofit/>
          </a:bodyPr>
          <a:p>
            <a:pPr algn="ctr" indent="0" marL="0">
              <a:buNone/>
            </a:pPr>
            <a:endParaRPr altLang="en-US" dirty="0" sz="3500" lang="en-US">
              <a:solidFill>
                <a:srgbClr val="032E59"/>
              </a:solidFill>
            </a:endParaRPr>
          </a:p>
          <a:p>
            <a:pPr algn="ctr" indent="0" marL="0">
              <a:buNone/>
            </a:pPr>
            <a:endParaRPr altLang="en-US" dirty="0" sz="3500" lang="en-US">
              <a:solidFill>
                <a:srgbClr val="032E59"/>
              </a:solidFill>
            </a:endParaRPr>
          </a:p>
          <a:p>
            <a:pPr algn="ctr" indent="0" marL="0">
              <a:buNone/>
            </a:pPr>
            <a:endParaRPr altLang="en-US" dirty="0" sz="3500" lang="en-US">
              <a:solidFill>
                <a:srgbClr val="032E59"/>
              </a:solidFill>
            </a:endParaRPr>
          </a:p>
          <a:p>
            <a:pPr algn="ctr" indent="0" marL="0">
              <a:buNone/>
            </a:pPr>
            <a:r>
              <a:rPr altLang="en-US" b="1" dirty="0" sz="4400" lang="en-US">
                <a:solidFill>
                  <a:srgbClr val="032E59"/>
                </a:solidFill>
                <a:sym typeface="+mn-ea"/>
              </a:rPr>
              <a:t>Online Faculty Consultation System</a:t>
            </a:r>
            <a:endParaRPr altLang="en-US" b="1" dirty="0" sz="4400" lang="en-US">
              <a:solidFill>
                <a:srgbClr val="032E59"/>
              </a:solidFill>
            </a:endParaRPr>
          </a:p>
          <a:p>
            <a:pPr algn="ctr" indent="0" marL="0">
              <a:buNone/>
            </a:pPr>
            <a:endParaRPr altLang="en-US" dirty="0" sz="4400" lang="en-US">
              <a:solidFill>
                <a:srgbClr val="032E59"/>
              </a:solidFill>
            </a:endParaRPr>
          </a:p>
          <a:p>
            <a:pPr algn="ctr" indent="0" marL="0">
              <a:buNone/>
            </a:pPr>
            <a:endParaRPr altLang="en-US" dirty="0" sz="3500" lang="en-US">
              <a:solidFill>
                <a:srgbClr val="032E59"/>
              </a:solidFill>
            </a:endParaRPr>
          </a:p>
          <a:p>
            <a:pPr algn="ctr" indent="0" marL="0">
              <a:buNone/>
            </a:pPr>
            <a:endParaRPr altLang="en-US" dirty="0" sz="35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79" name=""/>
        <p:cNvGrpSpPr/>
        <p:nvPr/>
      </p:nvGrpSpPr>
      <p:grpSpPr>
        <a:xfrm>
          <a:off x="0" y="0"/>
          <a:ext cx="0" cy="0"/>
          <a:chOff x="0" y="0"/>
          <a:chExt cx="0" cy="0"/>
        </a:xfrm>
      </p:grpSpPr>
      <p:sp>
        <p:nvSpPr>
          <p:cNvPr id="1048643" name="Rectangle 1"/>
          <p:cNvSpPr/>
          <p:nvPr/>
        </p:nvSpPr>
        <p:spPr>
          <a:xfrm>
            <a:off x="250783" y="273185"/>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Background</a:t>
            </a:r>
            <a:endParaRPr dirty="0" sz="2000" lang="en-PH" spc="300"/>
          </a:p>
        </p:txBody>
      </p:sp>
      <p:sp>
        <p:nvSpPr>
          <p:cNvPr id="1048644" name="Content Placeholder 2"/>
          <p:cNvSpPr>
            <a:spLocks noGrp="1"/>
          </p:cNvSpPr>
          <p:nvPr>
            <p:ph idx="1"/>
          </p:nvPr>
        </p:nvSpPr>
        <p:spPr>
          <a:xfrm>
            <a:off x="585281" y="1076595"/>
            <a:ext cx="10515600" cy="5071285"/>
          </a:xfrm>
        </p:spPr>
        <p:txBody>
          <a:bodyPr>
            <a:noAutofit/>
          </a:bodyPr>
          <a:p>
            <a:pPr indent="0" marL="0">
              <a:buNone/>
            </a:pPr>
            <a:r>
              <a:rPr altLang="en-US" dirty="0" sz="3000" lang="en-US">
                <a:solidFill>
                  <a:srgbClr val="032E59"/>
                </a:solidFill>
              </a:rPr>
              <a:t>Current Situation</a:t>
            </a:r>
            <a:endParaRPr altLang="en-US" dirty="0" sz="3000" lang="en-US">
              <a:solidFill>
                <a:srgbClr val="032E59"/>
              </a:solidFill>
            </a:endParaRPr>
          </a:p>
          <a:p>
            <a:pPr indent="0" marL="0">
              <a:buNone/>
            </a:pPr>
            <a:endParaRPr altLang="en-US" dirty="0" sz="3000" lang="en-US">
              <a:solidFill>
                <a:srgbClr val="032E59"/>
              </a:solidFill>
            </a:endParaRPr>
          </a:p>
          <a:p>
            <a:pPr indent="0" marL="0">
              <a:buNone/>
            </a:pPr>
            <a:r>
              <a:rPr altLang="en-US" dirty="0" sz="3000" lang="en-US">
                <a:solidFill>
                  <a:srgbClr val="032E59"/>
                </a:solidFill>
              </a:rPr>
              <a:t>• Faculty consultation scheduled manually via phone or email</a:t>
            </a:r>
            <a:endParaRPr altLang="en-US" dirty="0" sz="3000" lang="en-US">
              <a:solidFill>
                <a:srgbClr val="032E59"/>
              </a:solidFill>
            </a:endParaRPr>
          </a:p>
          <a:p>
            <a:pPr indent="0" marL="0">
              <a:buNone/>
            </a:pPr>
            <a:r>
              <a:rPr altLang="en-US" dirty="0" sz="3000" lang="en-US">
                <a:solidFill>
                  <a:srgbClr val="032E59"/>
                </a:solidFill>
              </a:rPr>
              <a:t>• Students visit offices without prior confirmation</a:t>
            </a:r>
            <a:endParaRPr altLang="en-US" dirty="0" sz="3000" lang="en-US">
              <a:solidFill>
                <a:srgbClr val="032E59"/>
              </a:solidFill>
            </a:endParaRPr>
          </a:p>
          <a:p>
            <a:pPr indent="0" marL="0">
              <a:buNone/>
            </a:pPr>
            <a:r>
              <a:rPr altLang="en-US" dirty="0" sz="3000" lang="en-US">
                <a:solidFill>
                  <a:srgbClr val="032E59"/>
                </a:solidFill>
              </a:rPr>
              <a:t>• Logs of consultations recorded manually</a:t>
            </a:r>
            <a:endParaRPr altLang="en-US" dirty="0" sz="3000" lang="en-US">
              <a:solidFill>
                <a:srgbClr val="032E59"/>
              </a:solidFill>
            </a:endParaRPr>
          </a:p>
          <a:p>
            <a:pPr indent="0" marL="0">
              <a:buNone/>
            </a:pPr>
            <a:r>
              <a:rPr altLang="en-US" dirty="0" sz="3000" lang="en-US">
                <a:solidFill>
                  <a:srgbClr val="032E59"/>
                </a:solidFill>
              </a:rPr>
              <a:t>• Feedback and follow-ups not systematically tracked</a:t>
            </a:r>
            <a:endParaRPr altLang="en-US" dirty="0" sz="30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80" name=""/>
        <p:cNvGrpSpPr/>
        <p:nvPr/>
      </p:nvGrpSpPr>
      <p:grpSpPr>
        <a:xfrm>
          <a:off x="0" y="0"/>
          <a:ext cx="0" cy="0"/>
          <a:chOff x="0" y="0"/>
          <a:chExt cx="0" cy="0"/>
        </a:xfrm>
      </p:grpSpPr>
      <p:sp>
        <p:nvSpPr>
          <p:cNvPr id="1048645" name="Rectangle 1"/>
          <p:cNvSpPr/>
          <p:nvPr/>
        </p:nvSpPr>
        <p:spPr>
          <a:xfrm>
            <a:off x="250783" y="273185"/>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Background</a:t>
            </a:r>
            <a:endParaRPr dirty="0" sz="2000" lang="en-PH" spc="300"/>
          </a:p>
        </p:txBody>
      </p:sp>
      <p:sp>
        <p:nvSpPr>
          <p:cNvPr id="1048646" name="Content Placeholder 2"/>
          <p:cNvSpPr>
            <a:spLocks noGrp="1"/>
          </p:cNvSpPr>
          <p:nvPr>
            <p:ph idx="1"/>
          </p:nvPr>
        </p:nvSpPr>
        <p:spPr>
          <a:xfrm>
            <a:off x="585281" y="1076595"/>
            <a:ext cx="10515600" cy="5071285"/>
          </a:xfrm>
        </p:spPr>
        <p:txBody>
          <a:bodyPr>
            <a:noAutofit/>
          </a:bodyPr>
          <a:p>
            <a:pPr indent="0" marL="0">
              <a:buNone/>
            </a:pPr>
            <a:r>
              <a:rPr altLang="en-US" dirty="0" sz="3000" lang="en-US">
                <a:solidFill>
                  <a:srgbClr val="032E59"/>
                </a:solidFill>
              </a:rPr>
              <a:t>Resulting Problems</a:t>
            </a:r>
            <a:endParaRPr altLang="en-US" dirty="0" sz="3000" lang="en-US">
              <a:solidFill>
                <a:srgbClr val="032E59"/>
              </a:solidFill>
            </a:endParaRPr>
          </a:p>
          <a:p>
            <a:pPr indent="0" marL="0">
              <a:buNone/>
            </a:pPr>
            <a:endParaRPr altLang="en-US" dirty="0" sz="3000" lang="en-US">
              <a:solidFill>
                <a:srgbClr val="032E59"/>
              </a:solidFill>
            </a:endParaRPr>
          </a:p>
          <a:p>
            <a:pPr indent="0" marL="0">
              <a:buNone/>
            </a:pPr>
            <a:r>
              <a:rPr altLang="en-US" dirty="0" sz="3000" lang="en-US">
                <a:solidFill>
                  <a:srgbClr val="032E59"/>
                </a:solidFill>
              </a:rPr>
              <a:t>• Scheduling conflicts and missed appointments</a:t>
            </a:r>
            <a:endParaRPr altLang="en-US" dirty="0" sz="3000" lang="en-US">
              <a:solidFill>
                <a:srgbClr val="032E59"/>
              </a:solidFill>
            </a:endParaRPr>
          </a:p>
          <a:p>
            <a:pPr indent="0" marL="0">
              <a:buNone/>
            </a:pPr>
            <a:r>
              <a:rPr altLang="en-US" dirty="0" sz="3000" lang="en-US">
                <a:solidFill>
                  <a:srgbClr val="032E59"/>
                </a:solidFill>
              </a:rPr>
              <a:t>• Time-consuming for both students and faculty</a:t>
            </a:r>
            <a:endParaRPr altLang="en-US" dirty="0" sz="3000" lang="en-US">
              <a:solidFill>
                <a:srgbClr val="032E59"/>
              </a:solidFill>
            </a:endParaRPr>
          </a:p>
          <a:p>
            <a:pPr indent="0" marL="0">
              <a:buNone/>
            </a:pPr>
            <a:r>
              <a:rPr altLang="en-US" dirty="0" sz="3000" lang="en-US">
                <a:solidFill>
                  <a:srgbClr val="032E59"/>
                </a:solidFill>
              </a:rPr>
              <a:t>• Difficulty monitoring consultation history</a:t>
            </a:r>
            <a:endParaRPr altLang="en-US" dirty="0" sz="3000" lang="en-US">
              <a:solidFill>
                <a:srgbClr val="032E59"/>
              </a:solidFill>
            </a:endParaRPr>
          </a:p>
          <a:p>
            <a:pPr indent="0" marL="0">
              <a:buNone/>
            </a:pPr>
            <a:r>
              <a:rPr altLang="en-US" dirty="0" sz="3000" lang="en-US">
                <a:solidFill>
                  <a:srgbClr val="032E59"/>
                </a:solidFill>
              </a:rPr>
              <a:t>• Limited accessibility and inefficient communication</a:t>
            </a:r>
            <a:endParaRPr altLang="en-US" dirty="0" sz="30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81" name=""/>
        <p:cNvGrpSpPr/>
        <p:nvPr/>
      </p:nvGrpSpPr>
      <p:grpSpPr>
        <a:xfrm>
          <a:off x="0" y="0"/>
          <a:ext cx="0" cy="0"/>
          <a:chOff x="0" y="0"/>
          <a:chExt cx="0" cy="0"/>
        </a:xfrm>
      </p:grpSpPr>
      <p:sp>
        <p:nvSpPr>
          <p:cNvPr id="1048647" name="Rectangle 1"/>
          <p:cNvSpPr/>
          <p:nvPr/>
        </p:nvSpPr>
        <p:spPr>
          <a:xfrm>
            <a:off x="250783" y="273185"/>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Background</a:t>
            </a:r>
            <a:endParaRPr dirty="0" sz="2000" lang="en-PH" spc="300"/>
          </a:p>
        </p:txBody>
      </p:sp>
      <p:pic>
        <p:nvPicPr>
          <p:cNvPr id="2097156" name="Content Placeholder 3" descr="Online Faculty Consu"/>
          <p:cNvPicPr>
            <a:picLocks noChangeAspect="1"/>
          </p:cNvPicPr>
          <p:nvPr>
            <p:ph idx="1"/>
          </p:nvPr>
        </p:nvPicPr>
        <p:blipFill>
          <a:blip xmlns:r="http://schemas.openxmlformats.org/officeDocument/2006/relationships" r:embed="rId2"/>
          <a:stretch>
            <a:fillRect/>
          </a:stretch>
        </p:blipFill>
        <p:spPr>
          <a:xfrm>
            <a:off x="3154045" y="1076325"/>
            <a:ext cx="5883910" cy="507174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82" name=""/>
        <p:cNvGrpSpPr/>
        <p:nvPr/>
      </p:nvGrpSpPr>
      <p:grpSpPr>
        <a:xfrm>
          <a:off x="0" y="0"/>
          <a:ext cx="0" cy="0"/>
          <a:chOff x="0" y="0"/>
          <a:chExt cx="0" cy="0"/>
        </a:xfrm>
      </p:grpSpPr>
      <p:sp>
        <p:nvSpPr>
          <p:cNvPr id="1048648" name="Rectangle 1"/>
          <p:cNvSpPr/>
          <p:nvPr/>
        </p:nvSpPr>
        <p:spPr>
          <a:xfrm>
            <a:off x="250783" y="273185"/>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Background</a:t>
            </a:r>
            <a:endParaRPr dirty="0" sz="2000" lang="en-PH" spc="300"/>
          </a:p>
        </p:txBody>
      </p:sp>
      <p:sp>
        <p:nvSpPr>
          <p:cNvPr id="1048649" name="Content Placeholder 2"/>
          <p:cNvSpPr>
            <a:spLocks noGrp="1"/>
          </p:cNvSpPr>
          <p:nvPr>
            <p:ph idx="1"/>
          </p:nvPr>
        </p:nvSpPr>
        <p:spPr>
          <a:xfrm>
            <a:off x="585281" y="1076595"/>
            <a:ext cx="10515600" cy="5071285"/>
          </a:xfrm>
        </p:spPr>
        <p:txBody>
          <a:bodyPr>
            <a:noAutofit/>
          </a:bodyPr>
          <a:p>
            <a:pPr indent="0" marL="0">
              <a:buNone/>
            </a:pPr>
            <a:r>
              <a:rPr altLang="en-US" dirty="0" sz="3000" lang="en-US">
                <a:solidFill>
                  <a:srgbClr val="032E59"/>
                </a:solidFill>
              </a:rPr>
              <a:t>Benefits of the System</a:t>
            </a:r>
            <a:endParaRPr altLang="en-US" dirty="0" sz="3000" lang="en-US">
              <a:solidFill>
                <a:srgbClr val="032E59"/>
              </a:solidFill>
            </a:endParaRPr>
          </a:p>
          <a:p>
            <a:pPr indent="0" marL="0">
              <a:buNone/>
            </a:pPr>
            <a:endParaRPr altLang="en-US" dirty="0" sz="3000" lang="en-US">
              <a:solidFill>
                <a:srgbClr val="032E59"/>
              </a:solidFill>
            </a:endParaRPr>
          </a:p>
          <a:p>
            <a:pPr indent="0" marL="0">
              <a:buNone/>
            </a:pPr>
            <a:r>
              <a:rPr altLang="en-US" dirty="0" sz="3000" lang="en-US">
                <a:solidFill>
                  <a:srgbClr val="032E59"/>
                </a:solidFill>
              </a:rPr>
              <a:t>• Efficient online scheduling and approval</a:t>
            </a:r>
            <a:endParaRPr altLang="en-US" dirty="0" sz="3000" lang="en-US">
              <a:solidFill>
                <a:srgbClr val="032E59"/>
              </a:solidFill>
            </a:endParaRPr>
          </a:p>
          <a:p>
            <a:pPr indent="0" marL="0">
              <a:buNone/>
            </a:pPr>
            <a:r>
              <a:rPr altLang="en-US" dirty="0" sz="3000" lang="en-US">
                <a:solidFill>
                  <a:srgbClr val="032E59"/>
                </a:solidFill>
              </a:rPr>
              <a:t>• Real-time tracking of consultation logs</a:t>
            </a:r>
            <a:endParaRPr altLang="en-US" dirty="0" sz="3000" lang="en-US">
              <a:solidFill>
                <a:srgbClr val="032E59"/>
              </a:solidFill>
            </a:endParaRPr>
          </a:p>
          <a:p>
            <a:pPr indent="0" marL="0">
              <a:buNone/>
            </a:pPr>
            <a:r>
              <a:rPr altLang="en-US" dirty="0" sz="3000" lang="en-US">
                <a:solidFill>
                  <a:srgbClr val="032E59"/>
                </a:solidFill>
              </a:rPr>
              <a:t>• Reduces missed appointments</a:t>
            </a:r>
            <a:endParaRPr altLang="en-US" dirty="0" sz="3000" lang="en-US">
              <a:solidFill>
                <a:srgbClr val="032E59"/>
              </a:solidFill>
            </a:endParaRPr>
          </a:p>
          <a:p>
            <a:pPr indent="0" marL="0">
              <a:buNone/>
            </a:pPr>
            <a:r>
              <a:rPr altLang="en-US" dirty="0" sz="3000" lang="en-US">
                <a:solidFill>
                  <a:srgbClr val="032E59"/>
                </a:solidFill>
              </a:rPr>
              <a:t>• Improves communication between students and faculty</a:t>
            </a:r>
            <a:endParaRPr altLang="en-US" dirty="0" sz="30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83" name=""/>
        <p:cNvGrpSpPr/>
        <p:nvPr/>
      </p:nvGrpSpPr>
      <p:grpSpPr>
        <a:xfrm>
          <a:off x="0" y="0"/>
          <a:ext cx="0" cy="0"/>
          <a:chOff x="0" y="0"/>
          <a:chExt cx="0" cy="0"/>
        </a:xfrm>
      </p:grpSpPr>
      <p:sp>
        <p:nvSpPr>
          <p:cNvPr id="1048650" name="Rectangle 1"/>
          <p:cNvSpPr/>
          <p:nvPr/>
        </p:nvSpPr>
        <p:spPr>
          <a:xfrm>
            <a:off x="250825" y="273050"/>
            <a:ext cx="3702050" cy="701039"/>
          </a:xfrm>
          <a:prstGeom prst="rect"/>
          <a:solidFill>
            <a:srgbClr val="FFC000"/>
          </a:solidFill>
        </p:spPr>
        <p:txBody>
          <a:bodyPr wrap="square">
            <a:spAutoFit/>
          </a:bodyPr>
          <a:p>
            <a:r>
              <a:rPr altLang="en-US" dirty="0" sz="2000" lang="en-US" spc="300"/>
              <a:t>Theoretical Framework</a:t>
            </a:r>
            <a:endParaRPr altLang="en-US" dirty="0" sz="2000" lang="en-US" spc="300"/>
          </a:p>
        </p:txBody>
      </p:sp>
      <p:sp>
        <p:nvSpPr>
          <p:cNvPr id="1048651" name="Content Placeholder 2"/>
          <p:cNvSpPr>
            <a:spLocks noGrp="1"/>
          </p:cNvSpPr>
          <p:nvPr>
            <p:ph idx="1"/>
          </p:nvPr>
        </p:nvSpPr>
        <p:spPr>
          <a:xfrm>
            <a:off x="585281" y="1077230"/>
            <a:ext cx="10515600" cy="5071285"/>
          </a:xfrm>
        </p:spPr>
        <p:txBody>
          <a:bodyPr>
            <a:noAutofit/>
          </a:bodyPr>
          <a:p>
            <a:pPr indent="0" marL="0">
              <a:buNone/>
            </a:pPr>
            <a:r>
              <a:rPr altLang="en-US" dirty="0" sz="3100" lang="en-US">
                <a:solidFill>
                  <a:srgbClr val="032E59"/>
                </a:solidFill>
              </a:rPr>
              <a:t>The Online Faculty Consultation System is anchored on the findings of Shen et al. (2024), who emphasized that online consultation platforms integrate both technical systems and social interaction to improve accessibility and efficiency. Applying this framework, the system ensures streamlined scheduling, documentation, and feedback while fostering meaningful academic dialogue between students and faculty.</a:t>
            </a:r>
            <a:endParaRPr altLang="en-US" dirty="0" sz="31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86" name=""/>
        <p:cNvGrpSpPr/>
        <p:nvPr/>
      </p:nvGrpSpPr>
      <p:grpSpPr>
        <a:xfrm>
          <a:off x="0" y="0"/>
          <a:ext cx="0" cy="0"/>
          <a:chOff x="0" y="0"/>
          <a:chExt cx="0" cy="0"/>
        </a:xfrm>
      </p:grpSpPr>
      <p:sp>
        <p:nvSpPr>
          <p:cNvPr id="1048654" name="Content Placeholder 2"/>
          <p:cNvSpPr>
            <a:spLocks noGrp="1"/>
          </p:cNvSpPr>
          <p:nvPr>
            <p:ph idx="1"/>
          </p:nvPr>
        </p:nvSpPr>
        <p:spPr>
          <a:xfrm>
            <a:off x="585470" y="1278255"/>
            <a:ext cx="11243310" cy="5274945"/>
          </a:xfrm>
        </p:spPr>
        <p:txBody>
          <a:bodyPr>
            <a:noAutofit/>
          </a:bodyPr>
          <a:p>
            <a:pPr algn="l" indent="0" marL="0">
              <a:buNone/>
            </a:pPr>
            <a:r>
              <a:rPr altLang="en-US" dirty="0" lang="en-US">
                <a:solidFill>
                  <a:srgbClr val="032E59"/>
                </a:solidFill>
              </a:rPr>
              <a:t>Faculty consultation is currently scheduled manually through phone, email, or walk-ins, which is inefficient and prone to errors.</a:t>
            </a:r>
            <a:endParaRPr altLang="en-US" dirty="0" lang="en-US">
              <a:solidFill>
                <a:srgbClr val="032E59"/>
              </a:solidFill>
            </a:endParaRPr>
          </a:p>
          <a:p>
            <a:pPr algn="l" indent="-514350" marL="514350">
              <a:buAutoNum type="arabicPeriod"/>
            </a:pPr>
            <a:r>
              <a:rPr altLang="en-US" dirty="0" lang="en-US">
                <a:solidFill>
                  <a:srgbClr val="032E59"/>
                </a:solidFill>
              </a:rPr>
              <a:t>How can the consultation scheduling process be automated to reduce conflicts and missed appointments?</a:t>
            </a:r>
            <a:endParaRPr altLang="en-US" dirty="0" lang="en-US">
              <a:solidFill>
                <a:srgbClr val="032E59"/>
              </a:solidFill>
            </a:endParaRPr>
          </a:p>
          <a:p>
            <a:pPr algn="l" indent="-514350" marL="514350">
              <a:buAutoNum type="arabicPeriod"/>
            </a:pPr>
            <a:r>
              <a:rPr altLang="en-US" dirty="0" lang="en-US">
                <a:solidFill>
                  <a:srgbClr val="032E59"/>
                </a:solidFill>
              </a:rPr>
              <a:t>How can students and faculty track consultations in real-time?</a:t>
            </a:r>
            <a:endParaRPr altLang="en-US" dirty="0" lang="en-US">
              <a:solidFill>
                <a:srgbClr val="032E59"/>
              </a:solidFill>
            </a:endParaRPr>
          </a:p>
          <a:p>
            <a:pPr algn="l" indent="-514350" marL="514350">
              <a:buAutoNum type="arabicPeriod"/>
            </a:pPr>
            <a:r>
              <a:rPr altLang="en-US" dirty="0" lang="en-US">
                <a:solidFill>
                  <a:srgbClr val="032E59"/>
                </a:solidFill>
              </a:rPr>
              <a:t>How can consultation logs and records be managed digitally to improve accessibility and efficiency?</a:t>
            </a:r>
            <a:endParaRPr altLang="en-US" dirty="0" lang="en-US">
              <a:solidFill>
                <a:srgbClr val="032E59"/>
              </a:solidFill>
            </a:endParaRPr>
          </a:p>
          <a:p>
            <a:pPr algn="l" indent="-514350" marL="514350">
              <a:buAutoNum type="arabicPeriod"/>
            </a:pPr>
            <a:r>
              <a:rPr altLang="en-US" dirty="0" lang="en-US">
                <a:solidFill>
                  <a:srgbClr val="032E59"/>
                </a:solidFill>
              </a:rPr>
              <a:t>How can the system improve communication between students and faculty during consultation?</a:t>
            </a:r>
            <a:endParaRPr altLang="en-US" dirty="0" lang="en-US">
              <a:solidFill>
                <a:srgbClr val="032E59"/>
              </a:solidFill>
            </a:endParaRPr>
          </a:p>
        </p:txBody>
      </p:sp>
      <p:sp>
        <p:nvSpPr>
          <p:cNvPr id="1048655" name="Rectangle 3"/>
          <p:cNvSpPr/>
          <p:nvPr/>
        </p:nvSpPr>
        <p:spPr>
          <a:xfrm>
            <a:off x="318770" y="389890"/>
            <a:ext cx="4253865" cy="701040"/>
          </a:xfrm>
          <a:prstGeom prst="rect"/>
          <a:solidFill>
            <a:srgbClr val="FFC000"/>
          </a:solidFill>
        </p:spPr>
        <p:txBody>
          <a:bodyPr wrap="square">
            <a:spAutoFit/>
          </a:bodyPr>
          <a:p>
            <a:r>
              <a:rPr altLang="en-PH" dirty="0" sz="2000" lang="en-US" spc="300"/>
              <a:t>Statement of the Problem</a:t>
            </a:r>
            <a:endParaRPr altLang="en-PH" dirty="0" sz="2000" lang="en-US" spc="30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87" name=""/>
        <p:cNvGrpSpPr/>
        <p:nvPr/>
      </p:nvGrpSpPr>
      <p:grpSpPr>
        <a:xfrm>
          <a:off x="0" y="0"/>
          <a:ext cx="0" cy="0"/>
          <a:chOff x="0" y="0"/>
          <a:chExt cx="0" cy="0"/>
        </a:xfrm>
      </p:grpSpPr>
      <p:sp>
        <p:nvSpPr>
          <p:cNvPr id="1048656" name="Content Placeholder 2"/>
          <p:cNvSpPr>
            <a:spLocks noGrp="1"/>
          </p:cNvSpPr>
          <p:nvPr>
            <p:ph idx="1"/>
          </p:nvPr>
        </p:nvSpPr>
        <p:spPr>
          <a:xfrm>
            <a:off x="585280" y="1076595"/>
            <a:ext cx="11243553" cy="5391487"/>
          </a:xfrm>
        </p:spPr>
        <p:txBody>
          <a:bodyPr>
            <a:noAutofit/>
          </a:bodyPr>
          <a:p>
            <a:pPr indent="0" marL="0">
              <a:buNone/>
            </a:pPr>
            <a:r>
              <a:rPr altLang="en-US" dirty="0" sz="3500" lang="en-US">
                <a:solidFill>
                  <a:srgbClr val="032E59"/>
                </a:solidFill>
              </a:rPr>
              <a:t>General Objective</a:t>
            </a:r>
            <a:endParaRPr altLang="en-US" dirty="0" sz="3500" lang="en-US">
              <a:solidFill>
                <a:srgbClr val="032E59"/>
              </a:solidFill>
            </a:endParaRPr>
          </a:p>
          <a:p>
            <a:pPr indent="0" marL="0">
              <a:buNone/>
            </a:pPr>
            <a:endParaRPr altLang="en-US" dirty="0" sz="3500" lang="en-US">
              <a:solidFill>
                <a:srgbClr val="032E59"/>
              </a:solidFill>
            </a:endParaRPr>
          </a:p>
          <a:p>
            <a:pPr indent="0" marL="0">
              <a:buNone/>
            </a:pPr>
            <a:r>
              <a:rPr altLang="en-US" dirty="0" sz="3500" lang="en-US">
                <a:solidFill>
                  <a:srgbClr val="032E59"/>
                </a:solidFill>
              </a:rPr>
              <a:t>Develop an Online Faculty Consultation System to automate scheduling, tracking, and reporting of student consultations.</a:t>
            </a:r>
            <a:endParaRPr altLang="en-US" dirty="0" sz="3500" lang="en-US">
              <a:solidFill>
                <a:srgbClr val="032E59"/>
              </a:solidFill>
            </a:endParaRPr>
          </a:p>
        </p:txBody>
      </p:sp>
      <p:sp>
        <p:nvSpPr>
          <p:cNvPr id="1048657" name="Rectangle 3"/>
          <p:cNvSpPr/>
          <p:nvPr/>
        </p:nvSpPr>
        <p:spPr>
          <a:xfrm>
            <a:off x="318877" y="389917"/>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Objectives</a:t>
            </a:r>
            <a:endParaRPr dirty="0" sz="2000" lang="en-PH" spc="30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88" name=""/>
        <p:cNvGrpSpPr/>
        <p:nvPr/>
      </p:nvGrpSpPr>
      <p:grpSpPr>
        <a:xfrm>
          <a:off x="0" y="0"/>
          <a:ext cx="0" cy="0"/>
          <a:chOff x="0" y="0"/>
          <a:chExt cx="0" cy="0"/>
        </a:xfrm>
      </p:grpSpPr>
      <p:sp>
        <p:nvSpPr>
          <p:cNvPr id="1048658" name="Content Placeholder 2"/>
          <p:cNvSpPr>
            <a:spLocks noGrp="1"/>
          </p:cNvSpPr>
          <p:nvPr>
            <p:ph idx="1"/>
          </p:nvPr>
        </p:nvSpPr>
        <p:spPr>
          <a:xfrm>
            <a:off x="585280" y="1076595"/>
            <a:ext cx="11243553" cy="5391487"/>
          </a:xfrm>
        </p:spPr>
        <p:txBody>
          <a:bodyPr>
            <a:noAutofit/>
          </a:bodyPr>
          <a:p>
            <a:pPr indent="0" marL="0">
              <a:buNone/>
            </a:pPr>
            <a:r>
              <a:rPr altLang="en-US" dirty="0" sz="3500" lang="en-US">
                <a:solidFill>
                  <a:srgbClr val="032E59"/>
                </a:solidFill>
              </a:rPr>
              <a:t>Key Objectives</a:t>
            </a:r>
            <a:endParaRPr altLang="en-US" dirty="0" sz="3500" lang="en-US">
              <a:solidFill>
                <a:srgbClr val="032E59"/>
              </a:solidFill>
            </a:endParaRPr>
          </a:p>
          <a:p>
            <a:pPr indent="0" marL="0">
              <a:buNone/>
            </a:pPr>
            <a:endParaRPr altLang="en-US" dirty="0" sz="3500" lang="en-US">
              <a:solidFill>
                <a:srgbClr val="032E59"/>
              </a:solidFill>
            </a:endParaRPr>
          </a:p>
          <a:p>
            <a:pPr indent="-514350" marL="514350">
              <a:buAutoNum type="arabicPeriod"/>
            </a:pPr>
            <a:r>
              <a:rPr altLang="en-US" dirty="0" sz="3500" lang="en-US">
                <a:solidFill>
                  <a:srgbClr val="032E59"/>
                </a:solidFill>
              </a:rPr>
              <a:t>Students can book consultations online; faculty can approve automatically.</a:t>
            </a:r>
            <a:endParaRPr altLang="en-US" dirty="0" sz="3500" lang="en-US">
              <a:solidFill>
                <a:srgbClr val="032E59"/>
              </a:solidFill>
            </a:endParaRPr>
          </a:p>
          <a:p>
            <a:pPr indent="-514350" marL="514350">
              <a:buAutoNum type="arabicPeriod"/>
            </a:pPr>
            <a:r>
              <a:rPr altLang="en-US" dirty="0" sz="3500" lang="en-US">
                <a:solidFill>
                  <a:srgbClr val="032E59"/>
                </a:solidFill>
              </a:rPr>
              <a:t>Faculty and students can view consultation schedules and logs instantly.</a:t>
            </a:r>
            <a:endParaRPr altLang="en-US" dirty="0" sz="3500" lang="en-US">
              <a:solidFill>
                <a:srgbClr val="032E59"/>
              </a:solidFill>
            </a:endParaRPr>
          </a:p>
          <a:p>
            <a:pPr indent="-514350" marL="514350">
              <a:buAutoNum type="arabicPeriod"/>
            </a:pPr>
            <a:r>
              <a:rPr altLang="en-US" dirty="0" sz="3500" lang="en-US">
                <a:solidFill>
                  <a:srgbClr val="032E59"/>
                </a:solidFill>
              </a:rPr>
              <a:t>The system automatically keeps consultation history and produces reports for evaluation.</a:t>
            </a:r>
            <a:endParaRPr altLang="en-US" dirty="0" sz="3500" lang="en-US">
              <a:solidFill>
                <a:srgbClr val="032E59"/>
              </a:solidFill>
            </a:endParaRPr>
          </a:p>
        </p:txBody>
      </p:sp>
      <p:sp>
        <p:nvSpPr>
          <p:cNvPr id="1048659" name="Rectangle 3"/>
          <p:cNvSpPr/>
          <p:nvPr/>
        </p:nvSpPr>
        <p:spPr>
          <a:xfrm>
            <a:off x="318877" y="389917"/>
            <a:ext cx="2219353" cy="400110"/>
          </a:xfrm>
          <a:prstGeom prst="rect"/>
          <a:solidFill>
            <a:srgbClr val="FFC000"/>
          </a:solidFill>
        </p:spPr>
        <p:txBody>
          <a:bodyPr wrap="square">
            <a:spAutoFit/>
          </a:bodyPr>
          <a:p>
            <a:r>
              <a:rPr b="1" dirty="0" sz="2000" lang="en-US" spc="300">
                <a:solidFill>
                  <a:srgbClr val="000000"/>
                </a:solidFill>
                <a:latin typeface="Myanmar Text" panose="020B0502040204020203" pitchFamily="34" charset="0"/>
                <a:ea typeface="Myanmar Text" panose="020B0502040204020203" pitchFamily="34" charset="0"/>
              </a:rPr>
              <a:t>Objectives</a:t>
            </a:r>
            <a:endParaRPr dirty="0" sz="2000" lang="en-PH" spc="30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lum/>
          </a:blip>
          <a:srcRect/>
          <a:stretch>
            <a:fillRect/>
          </a:stretch>
        </a:blipFill>
        <a:effectLst/>
      </p:bgPr>
    </p:bg>
    <p:spTree>
      <p:nvGrpSpPr>
        <p:cNvPr id="90" name=""/>
        <p:cNvGrpSpPr/>
        <p:nvPr/>
      </p:nvGrpSpPr>
      <p:grpSpPr>
        <a:xfrm>
          <a:off x="0" y="0"/>
          <a:ext cx="0" cy="0"/>
          <a:chOff x="0" y="0"/>
          <a:chExt cx="0" cy="0"/>
        </a:xfrm>
      </p:grpSpPr>
      <p:sp>
        <p:nvSpPr>
          <p:cNvPr id="1048665" name="Title 6"/>
          <p:cNvSpPr>
            <a:spLocks noGrp="1"/>
          </p:cNvSpPr>
          <p:nvPr>
            <p:ph type="title"/>
          </p:nvPr>
        </p:nvSpPr>
        <p:spPr>
          <a:xfrm>
            <a:off x="3219061" y="1784383"/>
            <a:ext cx="8417638" cy="2879725"/>
          </a:xfrm>
        </p:spPr>
        <p:txBody>
          <a:bodyPr>
            <a:normAutofit/>
          </a:bodyPr>
          <a:p>
            <a:r>
              <a:rPr b="1" dirty="0" sz="8000" lang="en-US">
                <a:solidFill>
                  <a:srgbClr val="032E59"/>
                </a:solidFill>
              </a:rPr>
              <a:t>Thank you </a:t>
            </a:r>
            <a:br>
              <a:rPr b="1" dirty="0" sz="8000" lang="en-US">
                <a:solidFill>
                  <a:srgbClr val="032E59"/>
                </a:solidFill>
              </a:rPr>
            </a:br>
            <a:r>
              <a:rPr b="1" dirty="0" sz="8000" lang="en-US">
                <a:solidFill>
                  <a:srgbClr val="032E59"/>
                </a:solidFill>
              </a:rPr>
              <a:t>very much!</a:t>
            </a:r>
            <a:endParaRPr b="1" dirty="0" sz="8000" lang="en-US">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JRMSU">
      <a:majorFont>
        <a:latin typeface="Century Gothic"/>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JRMSU HYMN</dc:title>
  <dc:creator>OUP</dc:creator>
  <cp:lastModifiedBy>Karen P. Padilla</cp:lastModifiedBy>
  <dcterms:created xsi:type="dcterms:W3CDTF">2024-09-02T03:56:00Z</dcterms:created>
  <dcterms:modified xsi:type="dcterms:W3CDTF">2026-03-09T16:17:04Z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b3ecc422c55d45fc8d3c9274e741ae03</vt:lpwstr>
  </property>
  <property fmtid="{D5CDD505-2E9C-101B-9397-08002B2CF9AE}" pid="3" name="KSOProductBuildVer">
    <vt:lpwstr>1033-12.2.0.23196</vt:lpwstr>
  </property>
</Properties>
</file>